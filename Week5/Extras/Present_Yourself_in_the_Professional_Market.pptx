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7" r:id="rId9"/>
    <p:sldId id="268" r:id="rId10"/>
    <p:sldId id="278" r:id="rId11"/>
    <p:sldId id="270" r:id="rId12"/>
    <p:sldId id="272" r:id="rId13"/>
    <p:sldId id="274" r:id="rId14"/>
    <p:sldId id="275" r:id="rId15"/>
    <p:sldId id="276" r:id="rId16"/>
    <p:sldId id="280" r:id="rId17"/>
    <p:sldId id="277" r:id="rId18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19"/>
    <p:restoredTop sz="94635"/>
  </p:normalViewPr>
  <p:slideViewPr>
    <p:cSldViewPr snapToGrid="0" snapToObjects="1">
      <p:cViewPr>
        <p:scale>
          <a:sx n="113" d="100"/>
          <a:sy n="113" d="100"/>
        </p:scale>
        <p:origin x="35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696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Skip the queue, the game switch from proving you are </a:t>
            </a:r>
            <a:r>
              <a:rPr lang="en-US"/>
              <a:t>worthy to,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49A9E-27F2-D0E3-CB47-6046735F2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F9C37E-2076-84BB-F07F-C05ECC1F59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44B87B-BC2E-E8BE-EFCB-4EF238EF4C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FFCDBC-0823-EB0E-EF61-79E3AB0439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2815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321794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73477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26218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3496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7/27/26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60846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7/27/26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885944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7/27/26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32549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24395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735573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812434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549630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2824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7/27/26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177660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kaust/assets/kaus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2318147" cy="1078992"/>
          </a:xfrm>
          <a:prstGeom prst="rect">
            <a:avLst/>
          </a:prstGeom>
        </p:spPr>
      </p:pic>
      <p:pic>
        <p:nvPicPr>
          <p:cNvPr id="3" name="Image 1" descr="/home/claude/kaust/assets/k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2092" y="420624"/>
            <a:ext cx="1774220" cy="969264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02920" y="1691640"/>
            <a:ext cx="11183112" cy="0"/>
          </a:xfrm>
          <a:prstGeom prst="line">
            <a:avLst/>
          </a:prstGeom>
          <a:noFill/>
          <a:ln w="222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5" name="Text 1"/>
          <p:cNvSpPr/>
          <p:nvPr/>
        </p:nvSpPr>
        <p:spPr>
          <a:xfrm>
            <a:off x="640080" y="1965960"/>
            <a:ext cx="109087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Present Yourself in</a:t>
            </a:r>
            <a:endParaRPr lang="en-US" sz="4700" dirty="0"/>
          </a:p>
          <a:p>
            <a:pPr marL="0" indent="0" algn="ctr">
              <a:lnSpc>
                <a:spcPct val="104000"/>
              </a:lnSpc>
              <a:buNone/>
            </a:pPr>
            <a:r>
              <a:rPr lang="en-US" sz="4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Professional Market</a:t>
            </a:r>
            <a:endParaRPr lang="en-US" sz="4700" dirty="0"/>
          </a:p>
        </p:txBody>
      </p:sp>
      <p:sp>
        <p:nvSpPr>
          <p:cNvPr id="6" name="Shape 2"/>
          <p:cNvSpPr/>
          <p:nvPr/>
        </p:nvSpPr>
        <p:spPr>
          <a:xfrm>
            <a:off x="2834640" y="4224528"/>
            <a:ext cx="6519672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7" name="Text 3"/>
          <p:cNvSpPr/>
          <p:nvPr/>
        </p:nvSpPr>
        <p:spPr>
          <a:xfrm>
            <a:off x="2834640" y="4334256"/>
            <a:ext cx="6519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King Khalid University (KKU)</a:t>
            </a:r>
            <a:endParaRPr lang="en-US" sz="2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KAUST Academy</a:t>
            </a:r>
            <a:endParaRPr lang="en-US" sz="2000" dirty="0"/>
          </a:p>
        </p:txBody>
      </p:sp>
      <p:sp>
        <p:nvSpPr>
          <p:cNvPr id="8" name="Shape 4"/>
          <p:cNvSpPr/>
          <p:nvPr/>
        </p:nvSpPr>
        <p:spPr>
          <a:xfrm>
            <a:off x="2834640" y="5321808"/>
            <a:ext cx="6519672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9" name="Text 5"/>
          <p:cNvSpPr/>
          <p:nvPr/>
        </p:nvSpPr>
        <p:spPr>
          <a:xfrm>
            <a:off x="2834640" y="5592029"/>
            <a:ext cx="6519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By: Turki Alshuaibi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17374" y="1485452"/>
            <a:ext cx="67665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spcAft>
                <a:spcPts val="2000"/>
              </a:spcAft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The Market Is a Funnel</a:t>
            </a:r>
            <a:endParaRPr lang="en-US" sz="2600" dirty="0"/>
          </a:p>
          <a:p>
            <a:pPr marL="0" indent="0" algn="l">
              <a:lnSpc>
                <a:spcPct val="130000"/>
              </a:lnSpc>
              <a:spcAft>
                <a:spcPts val="2000"/>
              </a:spcAft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The cheat code</a:t>
            </a:r>
            <a:endParaRPr lang="en-US" sz="2600" dirty="0"/>
          </a:p>
          <a:p>
            <a:pPr marL="0" indent="0" algn="l">
              <a:lnSpc>
                <a:spcPct val="130000"/>
              </a:lnSpc>
              <a:spcAft>
                <a:spcPts val="2000"/>
              </a:spcAft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Profile Anatomy</a:t>
            </a:r>
            <a:endParaRPr lang="en-US" sz="2600" dirty="0"/>
          </a:p>
          <a:p>
            <a:pPr marL="0" indent="0" algn="l">
              <a:lnSpc>
                <a:spcPct val="130000"/>
              </a:lnSpc>
              <a:spcAft>
                <a:spcPts val="2000"/>
              </a:spcAft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Getting Found and Getting Hired</a:t>
            </a:r>
            <a:endParaRPr lang="en-US" sz="2600" dirty="0"/>
          </a:p>
          <a:p>
            <a:pPr marL="0" indent="0" algn="l">
              <a:lnSpc>
                <a:spcPct val="130000"/>
              </a:lnSpc>
              <a:spcAft>
                <a:spcPts val="2000"/>
              </a:spcAft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Do's, Don'ts and Next Steps</a:t>
            </a:r>
            <a:endParaRPr lang="en-US" sz="2600" dirty="0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998E33A0-AFC7-B566-B539-93A220177FFE}"/>
              </a:ext>
            </a:extLst>
          </p:cNvPr>
          <p:cNvSpPr/>
          <p:nvPr/>
        </p:nvSpPr>
        <p:spPr>
          <a:xfrm>
            <a:off x="736147" y="2811791"/>
            <a:ext cx="3857625" cy="12344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3750" b="1" dirty="0">
                <a:solidFill>
                  <a:srgbClr val="3B82F6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Table of
Contents</a:t>
            </a:r>
            <a:endParaRPr lang="en-US" sz="3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3429000"/>
          </a:xfrm>
          <a:prstGeom prst="rect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" name="Shape 1"/>
          <p:cNvSpPr/>
          <p:nvPr/>
        </p:nvSpPr>
        <p:spPr>
          <a:xfrm>
            <a:off x="0" y="3429000"/>
            <a:ext cx="118872" cy="3429000"/>
          </a:xfrm>
          <a:prstGeom prst="rect">
            <a:avLst/>
          </a:prstGeom>
          <a:solidFill>
            <a:srgbClr val="FBBC04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7" name="Picture 6" descr="No alternative text description for this image">
            <a:extLst>
              <a:ext uri="{FF2B5EF4-FFF2-40B4-BE49-F238E27FC236}">
                <a16:creationId xmlns:a16="http://schemas.microsoft.com/office/drawing/2014/main" id="{FB82D330-DE74-80BF-F09A-831F746C32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8916" b="9289"/>
          <a:stretch>
            <a:fillRect/>
          </a:stretch>
        </p:blipFill>
        <p:spPr>
          <a:xfrm>
            <a:off x="3031791" y="1093763"/>
            <a:ext cx="2320757" cy="4670474"/>
          </a:xfrm>
          <a:prstGeom prst="rect">
            <a:avLst/>
          </a:prstGeom>
        </p:spPr>
      </p:pic>
      <p:pic>
        <p:nvPicPr>
          <p:cNvPr id="8" name="Picture 7" descr="No alternative text description for this image">
            <a:extLst>
              <a:ext uri="{FF2B5EF4-FFF2-40B4-BE49-F238E27FC236}">
                <a16:creationId xmlns:a16="http://schemas.microsoft.com/office/drawing/2014/main" id="{5150B176-B731-854D-791B-EE5118EEB6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916" b="9289"/>
          <a:stretch>
            <a:fillRect/>
          </a:stretch>
        </p:blipFill>
        <p:spPr>
          <a:xfrm>
            <a:off x="6839454" y="1093763"/>
            <a:ext cx="2320758" cy="467047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16636"/>
            <a:ext cx="1124712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 is funnel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417320"/>
            <a:ext cx="61264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4000"/>
              </a:lnSpc>
              <a:spcAft>
                <a:spcPts val="12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 Averages across 60,000 companies:</a:t>
            </a:r>
            <a:endParaRPr lang="en-US" sz="1700" dirty="0"/>
          </a:p>
          <a:p>
            <a:pPr marL="0" indent="0" algn="l">
              <a:lnSpc>
                <a:spcPct val="1240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○   </a:t>
            </a:r>
            <a:r>
              <a:rPr lang="en-US" sz="155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~180 applications</a:t>
            </a: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 1 hire</a:t>
            </a:r>
            <a:endParaRPr lang="en-US" sz="1700" dirty="0"/>
          </a:p>
          <a:p>
            <a:pPr marL="0" indent="0" algn="l">
              <a:lnSpc>
                <a:spcPct val="1240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○   Applicant → interview: </a:t>
            </a:r>
            <a:r>
              <a:rPr lang="en-US" sz="1550" b="1" dirty="0">
                <a:solidFill>
                  <a:srgbClr val="FBBC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~3%</a:t>
            </a:r>
            <a:endParaRPr lang="en-US" sz="1700" dirty="0"/>
          </a:p>
          <a:p>
            <a:pPr marL="0" indent="0" algn="l">
              <a:lnSpc>
                <a:spcPct val="1240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○   Interview → hire: </a:t>
            </a:r>
            <a:r>
              <a:rPr lang="en-US" sz="1550" b="1" dirty="0">
                <a:solidFill>
                  <a:srgbClr val="3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~27%</a:t>
            </a:r>
            <a:endParaRPr lang="en-US" sz="1700" dirty="0"/>
          </a:p>
          <a:p>
            <a:pPr marL="0" indent="0" algn="l">
              <a:lnSpc>
                <a:spcPct val="124000"/>
              </a:lnSpc>
              <a:spcAft>
                <a:spcPts val="12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 Cold applying = a </a:t>
            </a:r>
            <a:r>
              <a:rPr lang="en-US" sz="1700" b="1" dirty="0">
                <a:solidFill>
                  <a:srgbClr val="EA4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 game</a:t>
            </a: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hard mode.</a:t>
            </a:r>
            <a:endParaRPr lang="en-US" sz="1700" dirty="0"/>
          </a:p>
          <a:p>
            <a:pPr marL="0" indent="0" algn="l">
              <a:lnSpc>
                <a:spcPct val="124000"/>
              </a:lnSpc>
              <a:spcAft>
                <a:spcPts val="12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 Everything in this deck exists to change those odds.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949440" y="1554480"/>
            <a:ext cx="4206240" cy="960120"/>
          </a:xfrm>
          <a:prstGeom prst="roundRect">
            <a:avLst>
              <a:gd name="adj" fmla="val 11429"/>
            </a:avLst>
          </a:prstGeom>
          <a:solidFill>
            <a:srgbClr val="4285F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5" name="Text 3"/>
          <p:cNvSpPr/>
          <p:nvPr/>
        </p:nvSpPr>
        <p:spPr>
          <a:xfrm>
            <a:off x="6949440" y="155448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292840" y="155448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589520" y="2761488"/>
            <a:ext cx="2926080" cy="960120"/>
          </a:xfrm>
          <a:prstGeom prst="roundRect">
            <a:avLst>
              <a:gd name="adj" fmla="val 11429"/>
            </a:avLst>
          </a:prstGeom>
          <a:solidFill>
            <a:srgbClr val="FBBC0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8" name="Text 6"/>
          <p:cNvSpPr/>
          <p:nvPr/>
        </p:nvSpPr>
        <p:spPr>
          <a:xfrm>
            <a:off x="7589520" y="2761488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0652760" y="2761488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an interview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83880" y="3968496"/>
            <a:ext cx="1737360" cy="960120"/>
          </a:xfrm>
          <a:prstGeom prst="roundRect">
            <a:avLst>
              <a:gd name="adj" fmla="val 11429"/>
            </a:avLst>
          </a:prstGeom>
          <a:solidFill>
            <a:srgbClr val="34A853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1" name="Text 9"/>
          <p:cNvSpPr/>
          <p:nvPr/>
        </p:nvSpPr>
        <p:spPr>
          <a:xfrm>
            <a:off x="8183880" y="3968496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0058400" y="3968496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gets hired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83680" y="526694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~180 who apply cold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6455664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CareerPlug Recruiting Metrics Report, hiring data from 60,000+ businesses.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Referrals are a cheat code 🎮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463040"/>
            <a:ext cx="598932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4000"/>
              </a:lnSpc>
              <a:spcAft>
                <a:spcPts val="12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 Referrals are </a:t>
            </a:r>
            <a:r>
              <a:rPr lang="en-US" sz="17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 of applicants but 11% of hires</a:t>
            </a: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~10x conversion.</a:t>
            </a:r>
            <a:endParaRPr lang="en-US" sz="1700" dirty="0"/>
          </a:p>
          <a:p>
            <a:pPr marL="0" indent="0" algn="l">
              <a:lnSpc>
                <a:spcPct val="124000"/>
              </a:lnSpc>
              <a:spcAft>
                <a:spcPts val="12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 Career sites: </a:t>
            </a:r>
            <a:r>
              <a:rPr lang="en-US" sz="1700" b="1" dirty="0">
                <a:solidFill>
                  <a:srgbClr val="EA4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~120 applicants</a:t>
            </a: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 hire. Referrals: </a:t>
            </a:r>
            <a:r>
              <a:rPr lang="en-US" sz="1700" b="1" dirty="0">
                <a:solidFill>
                  <a:srgbClr val="3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</a:t>
            </a: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700" dirty="0"/>
          </a:p>
          <a:p>
            <a:pPr marL="0" indent="0" algn="l">
              <a:lnSpc>
                <a:spcPct val="124000"/>
              </a:lnSpc>
              <a:spcAft>
                <a:spcPts val="12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 Referred candidates are </a:t>
            </a:r>
            <a:r>
              <a:rPr lang="en-US" sz="1700" b="1" dirty="0">
                <a:solidFill>
                  <a:srgbClr val="FBBC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~4x more likely to be hired</a:t>
            </a: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~10 days faster.</a:t>
            </a:r>
            <a:endParaRPr lang="en-US" sz="1700" dirty="0"/>
          </a:p>
          <a:p>
            <a:pPr marL="0" indent="0" algn="l">
              <a:lnSpc>
                <a:spcPct val="124000"/>
              </a:lnSpc>
              <a:spcAft>
                <a:spcPts val="12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 One warm intro &gt; 40 cold applications. Do the math 👀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502920" y="6455664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CareerPlug (60K businesses); Zippia 2026; ERIN enterprise study via SHRM.</a:t>
            </a:r>
            <a:endParaRPr lang="en-US" sz="1000" dirty="0"/>
          </a:p>
        </p:txBody>
      </p:sp>
      <p:pic>
        <p:nvPicPr>
          <p:cNvPr id="6" name="Picture 5" descr="Bro wants a referral to this job? The one that has me spiritually  unemployed? I love him (gay and glorious), but I wouldn't wish this place on  my worst enemy — let">
            <a:extLst>
              <a:ext uri="{FF2B5EF4-FFF2-40B4-BE49-F238E27FC236}">
                <a16:creationId xmlns:a16="http://schemas.microsoft.com/office/drawing/2014/main" id="{386A101A-7C67-1319-A8FC-783FC2BD0B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5681" y="655994"/>
            <a:ext cx="3107999" cy="554601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3429000"/>
          </a:xfrm>
          <a:prstGeom prst="rect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" name="Shape 1"/>
          <p:cNvSpPr/>
          <p:nvPr/>
        </p:nvSpPr>
        <p:spPr>
          <a:xfrm>
            <a:off x="0" y="3429000"/>
            <a:ext cx="118872" cy="3429000"/>
          </a:xfrm>
          <a:prstGeom prst="rect">
            <a:avLst/>
          </a:prstGeom>
          <a:solidFill>
            <a:srgbClr val="FBBC0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4" name="Text 2"/>
          <p:cNvSpPr/>
          <p:nvPr/>
        </p:nvSpPr>
        <p:spPr>
          <a:xfrm>
            <a:off x="960120" y="1874520"/>
            <a:ext cx="6492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Profile Is a</a:t>
            </a:r>
            <a:endParaRPr lang="en-US" sz="46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Listing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1005840" y="406908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resume. A query result. 🔍</a:t>
            </a:r>
            <a:endParaRPr lang="en-US" sz="2000" dirty="0"/>
          </a:p>
        </p:txBody>
      </p:sp>
      <p:pic>
        <p:nvPicPr>
          <p:cNvPr id="6" name="Image 0" descr="/home/claude/kaust/assets/sec2_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9732" y="1371600"/>
            <a:ext cx="47320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readers, one profile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600200"/>
            <a:ext cx="3675888" cy="3246120"/>
          </a:xfrm>
          <a:prstGeom prst="roundRect">
            <a:avLst>
              <a:gd name="adj" fmla="val 2817"/>
            </a:avLst>
          </a:prstGeom>
          <a:solidFill>
            <a:srgbClr val="17191D"/>
          </a:solidFill>
          <a:ln w="12700">
            <a:solidFill>
              <a:srgbClr val="34383F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4" name="Text 2"/>
          <p:cNvSpPr/>
          <p:nvPr/>
        </p:nvSpPr>
        <p:spPr>
          <a:xfrm>
            <a:off x="502920" y="1874520"/>
            <a:ext cx="3675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</a:rPr>
              <a:t>🤖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02920" y="2788920"/>
            <a:ext cx="3675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3291840"/>
            <a:ext cx="30358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Decides if you appear at all. Keywords, completeness, one clear lane.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16552" y="1600200"/>
            <a:ext cx="3675888" cy="3246120"/>
          </a:xfrm>
          <a:prstGeom prst="roundRect">
            <a:avLst>
              <a:gd name="adj" fmla="val 2817"/>
            </a:avLst>
          </a:prstGeom>
          <a:solidFill>
            <a:srgbClr val="17191D"/>
          </a:solidFill>
          <a:ln w="12700">
            <a:solidFill>
              <a:srgbClr val="34383F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8" name="Text 6"/>
          <p:cNvSpPr/>
          <p:nvPr/>
        </p:nvSpPr>
        <p:spPr>
          <a:xfrm>
            <a:off x="4416552" y="1874520"/>
            <a:ext cx="3675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</a:rPr>
              <a:t>🔍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416552" y="2788920"/>
            <a:ext cx="3675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BBC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RECRUITER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736592" y="3291840"/>
            <a:ext cx="30358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 seconds. Photo, headline, current role. Decides whether to click.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330184" y="1600200"/>
            <a:ext cx="3675888" cy="3246120"/>
          </a:xfrm>
          <a:prstGeom prst="roundRect">
            <a:avLst>
              <a:gd name="adj" fmla="val 2817"/>
            </a:avLst>
          </a:prstGeom>
          <a:solidFill>
            <a:srgbClr val="17191D"/>
          </a:solidFill>
          <a:ln w="12700">
            <a:solidFill>
              <a:srgbClr val="34383F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2" name="Text 10"/>
          <p:cNvSpPr/>
          <p:nvPr/>
        </p:nvSpPr>
        <p:spPr>
          <a:xfrm>
            <a:off x="8330184" y="1874520"/>
            <a:ext cx="3675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</a:rPr>
              <a:t>🤝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330184" y="2788920"/>
            <a:ext cx="3675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HIRING MANAGER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650224" y="3291840"/>
            <a:ext cx="30358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About and proof of impact. Decides trust and fit.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" y="525780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 in that order. </a:t>
            </a:r>
            <a:r>
              <a:rPr lang="en-US" sz="19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Humans never see what the machine filters out.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anatomy I: the 7-second layer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463040"/>
            <a:ext cx="60350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4000"/>
              </a:lnSpc>
              <a:spcAft>
                <a:spcPts val="12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 </a:t>
            </a:r>
            <a:r>
              <a:rPr lang="en-US" sz="17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Photo:</a:t>
            </a: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~21x more views, ~36x more messages. Real headshot, clean background.</a:t>
            </a:r>
            <a:endParaRPr lang="en-US" sz="1700" dirty="0"/>
          </a:p>
          <a:p>
            <a:pPr marL="0" indent="0" algn="l">
              <a:lnSpc>
                <a:spcPct val="124000"/>
              </a:lnSpc>
              <a:spcAft>
                <a:spcPts val="12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 </a:t>
            </a:r>
            <a:r>
              <a:rPr lang="en-US" sz="1700" b="1" dirty="0">
                <a:solidFill>
                  <a:srgbClr val="FBBC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Banner:</a:t>
            </a: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free billboard. State your lane, not a sunset.</a:t>
            </a:r>
            <a:endParaRPr lang="en-US" sz="1700" dirty="0"/>
          </a:p>
          <a:p>
            <a:pPr marL="0" indent="0" algn="l">
              <a:lnSpc>
                <a:spcPct val="124000"/>
              </a:lnSpc>
              <a:spcAft>
                <a:spcPts val="12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 </a:t>
            </a:r>
            <a:r>
              <a:rPr lang="en-US" sz="1700" b="1" dirty="0">
                <a:solidFill>
                  <a:srgbClr val="3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Headline:</a:t>
            </a: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weighted ~5x in recruiter search.</a:t>
            </a:r>
            <a:endParaRPr lang="en-US" sz="1700" dirty="0"/>
          </a:p>
          <a:p>
            <a:pPr marL="0" indent="0" algn="l">
              <a:lnSpc>
                <a:spcPct val="1240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○   Formula: Role | Specialization | Proof</a:t>
            </a:r>
            <a:endParaRPr lang="en-US" sz="1700" dirty="0"/>
          </a:p>
          <a:p>
            <a:pPr marL="0" indent="0" algn="l">
              <a:lnSpc>
                <a:spcPct val="1240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○   </a:t>
            </a: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 Engineer | RAG evaluation, on-device ML" </a:t>
            </a:r>
            <a:r>
              <a:rPr lang="en-US" sz="15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beats</a:t>
            </a: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"Student at …"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502920" y="6455664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LinkedIn published data (photo, messages); recruiter search weighting analyses 2026.</a:t>
            </a:r>
            <a:endParaRPr lang="en-US" sz="1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57CBF1-65D5-89F0-0613-4267C1E959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7368" y="3672371"/>
            <a:ext cx="3971232" cy="29295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22CF8D5-3128-786D-A180-A3E718CBA1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2611" y="726948"/>
            <a:ext cx="4015989" cy="292959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anatomy II: the machine layer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463040"/>
            <a:ext cx="65379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4000"/>
              </a:lnSpc>
              <a:spcAft>
                <a:spcPts val="12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 </a:t>
            </a:r>
            <a:r>
              <a:rPr lang="en-US" sz="17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About:</a:t>
            </a: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first 220 characters carry the weight. Open strong.</a:t>
            </a:r>
            <a:endParaRPr lang="en-US" sz="1700" dirty="0"/>
          </a:p>
          <a:p>
            <a:pPr marL="0" indent="0" algn="l">
              <a:lnSpc>
                <a:spcPct val="124000"/>
              </a:lnSpc>
              <a:spcAft>
                <a:spcPts val="12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 </a:t>
            </a:r>
            <a:r>
              <a:rPr lang="en-US" sz="1700" b="1" dirty="0">
                <a:solidFill>
                  <a:srgbClr val="FBBC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Skills:</a:t>
            </a: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average profile lists fewer than 10. Fill them all, pin your top 3.</a:t>
            </a:r>
            <a:endParaRPr lang="en-US" sz="1700" dirty="0"/>
          </a:p>
          <a:p>
            <a:pPr marL="0" indent="0" algn="l">
              <a:lnSpc>
                <a:spcPct val="124000"/>
              </a:lnSpc>
              <a:spcAft>
                <a:spcPts val="12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 </a:t>
            </a:r>
            <a:r>
              <a:rPr lang="en-US" sz="1700" b="1" dirty="0">
                <a:solidFill>
                  <a:srgbClr val="3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Experience:</a:t>
            </a: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What is your impact?</a:t>
            </a:r>
            <a:endParaRPr lang="en-US" sz="1700" dirty="0"/>
          </a:p>
          <a:p>
            <a:pPr marL="0" indent="0" algn="l">
              <a:lnSpc>
                <a:spcPct val="124000"/>
              </a:lnSpc>
              <a:spcAft>
                <a:spcPts val="12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 </a:t>
            </a:r>
            <a:r>
              <a:rPr lang="en-US" sz="1700" b="1" dirty="0">
                <a:solidFill>
                  <a:srgbClr val="F5A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Verification:</a:t>
            </a: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free trust badge for both readers.</a:t>
            </a:r>
          </a:p>
          <a:p>
            <a:pPr>
              <a:lnSpc>
                <a:spcPct val="124000"/>
              </a:lnSpc>
              <a:spcAft>
                <a:spcPts val="1200"/>
              </a:spcAft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More: Featured, Education, Licenses, Projects, Volunteering, Recommendations, Publications, Honors, Languages, Organization</a:t>
            </a:r>
          </a:p>
          <a:p>
            <a:pPr marL="0" indent="0" algn="l">
              <a:lnSpc>
                <a:spcPct val="124000"/>
              </a:lnSpc>
              <a:spcAft>
                <a:spcPts val="1200"/>
              </a:spcAft>
              <a:buNone/>
            </a:pP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498080" y="1463040"/>
            <a:ext cx="4160520" cy="1261872"/>
          </a:xfrm>
          <a:prstGeom prst="roundRect">
            <a:avLst>
              <a:gd name="adj" fmla="val 8696"/>
            </a:avLst>
          </a:prstGeom>
          <a:solidFill>
            <a:srgbClr val="17191D"/>
          </a:solidFill>
          <a:ln w="1905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5" name="Text 3"/>
          <p:cNvSpPr/>
          <p:nvPr/>
        </p:nvSpPr>
        <p:spPr>
          <a:xfrm>
            <a:off x="7680960" y="1463040"/>
            <a:ext cx="13716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~40x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098280" y="1572768"/>
            <a:ext cx="24688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search appearances at All-Star completeness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498080" y="2944368"/>
            <a:ext cx="4160520" cy="1261872"/>
          </a:xfrm>
          <a:prstGeom prst="roundRect">
            <a:avLst>
              <a:gd name="adj" fmla="val 8696"/>
            </a:avLst>
          </a:prstGeom>
          <a:solidFill>
            <a:srgbClr val="17191D"/>
          </a:solidFill>
          <a:ln w="1905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8" name="Text 6"/>
          <p:cNvSpPr/>
          <p:nvPr/>
        </p:nvSpPr>
        <p:spPr>
          <a:xfrm>
            <a:off x="7680960" y="2944368"/>
            <a:ext cx="13716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+60%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9098280" y="3054096"/>
            <a:ext cx="24688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profile views once ID-verified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498080" y="4425696"/>
            <a:ext cx="4160520" cy="1261872"/>
          </a:xfrm>
          <a:prstGeom prst="roundRect">
            <a:avLst>
              <a:gd name="adj" fmla="val 8696"/>
            </a:avLst>
          </a:prstGeom>
          <a:solidFill>
            <a:srgbClr val="17191D"/>
          </a:solidFill>
          <a:ln w="19050">
            <a:solidFill>
              <a:srgbClr val="FBBC04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1" name="Text 9"/>
          <p:cNvSpPr/>
          <p:nvPr/>
        </p:nvSpPr>
        <p:spPr>
          <a:xfrm>
            <a:off x="7680960" y="4425696"/>
            <a:ext cx="13716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BBC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9098280" y="4535424"/>
            <a:ext cx="24688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screened for; most profiles list under 10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6455664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The Interview Guys 2026; Leonar; CareerEnlightenment; LinkedIn published data.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7E9AB-3FD9-7582-4A1A-739E00860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1D7AAB5-3A30-3198-FFAA-E1C85868BC77}"/>
              </a:ext>
            </a:extLst>
          </p:cNvPr>
          <p:cNvSpPr/>
          <p:nvPr/>
        </p:nvSpPr>
        <p:spPr>
          <a:xfrm>
            <a:off x="502920" y="292608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anatomy III: the machine continued…</a:t>
            </a:r>
            <a:endParaRPr lang="en-US" sz="3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DCCFC17-7A7F-79B1-4168-69DAFAC50F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18" y="1556533"/>
            <a:ext cx="4269319" cy="202539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9754BD2-2C1F-39BC-6A83-FB855182A7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18" y="4308298"/>
            <a:ext cx="4269319" cy="188085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F79D437-DD7C-78B8-4FA1-2943325666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556533"/>
            <a:ext cx="5187506" cy="206847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EB4FC6F-C7F2-5802-BB0D-FFA0F71097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4308298"/>
            <a:ext cx="5187506" cy="188085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A9453C9-5599-6C01-FD87-CA51089D1CAC}"/>
              </a:ext>
            </a:extLst>
          </p:cNvPr>
          <p:cNvSpPr txBox="1"/>
          <p:nvPr/>
        </p:nvSpPr>
        <p:spPr>
          <a:xfrm>
            <a:off x="7759526" y="1078848"/>
            <a:ext cx="18604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</a:t>
            </a:r>
            <a:endParaRPr lang="en-SA" dirty="0">
              <a:solidFill>
                <a:schemeClr val="accent6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6D083FD-CBD8-AB17-8108-BAB20374BF59}"/>
              </a:ext>
            </a:extLst>
          </p:cNvPr>
          <p:cNvSpPr txBox="1"/>
          <p:nvPr/>
        </p:nvSpPr>
        <p:spPr>
          <a:xfrm>
            <a:off x="1707349" y="1156423"/>
            <a:ext cx="18604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Featured</a:t>
            </a:r>
            <a:endParaRPr lang="en-SA" dirty="0">
              <a:solidFill>
                <a:schemeClr val="accent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133FE51-3DFB-0F2B-694D-F142DD934206}"/>
              </a:ext>
            </a:extLst>
          </p:cNvPr>
          <p:cNvSpPr txBox="1"/>
          <p:nvPr/>
        </p:nvSpPr>
        <p:spPr>
          <a:xfrm>
            <a:off x="1028123" y="3908188"/>
            <a:ext cx="32189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Licenses &amp; certifications</a:t>
            </a:r>
            <a:endParaRPr lang="en-SA" dirty="0">
              <a:solidFill>
                <a:schemeClr val="accent4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E1AEF4-EFA0-B903-BD8F-48BF785CF006}"/>
              </a:ext>
            </a:extLst>
          </p:cNvPr>
          <p:cNvSpPr txBox="1"/>
          <p:nvPr/>
        </p:nvSpPr>
        <p:spPr>
          <a:xfrm>
            <a:off x="7419765" y="3865105"/>
            <a:ext cx="24653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SA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74147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3429000"/>
          </a:xfrm>
          <a:prstGeom prst="rect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" name="Shape 1"/>
          <p:cNvSpPr/>
          <p:nvPr/>
        </p:nvSpPr>
        <p:spPr>
          <a:xfrm>
            <a:off x="0" y="3429000"/>
            <a:ext cx="118872" cy="3429000"/>
          </a:xfrm>
          <a:prstGeom prst="rect">
            <a:avLst/>
          </a:prstGeom>
          <a:solidFill>
            <a:srgbClr val="FBBC0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4" name="Text 2"/>
          <p:cNvSpPr/>
          <p:nvPr/>
        </p:nvSpPr>
        <p:spPr>
          <a:xfrm>
            <a:off x="960120" y="1874520"/>
            <a:ext cx="6675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Found and</a:t>
            </a:r>
            <a:endParaRPr lang="en-US" sz="46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Hired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1005840" y="406908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offers actually come from 🏆</a:t>
            </a:r>
            <a:endParaRPr lang="en-US" sz="2000" dirty="0"/>
          </a:p>
        </p:txBody>
      </p:sp>
      <p:pic>
        <p:nvPicPr>
          <p:cNvPr id="6" name="Image 0" descr="/home/claude/kaust/assets/sec3_troph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4304" y="1280160"/>
            <a:ext cx="4727448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beats claims 🧾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463040"/>
            <a:ext cx="6492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4000"/>
              </a:lnSpc>
              <a:spcAft>
                <a:spcPts val="12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 </a:t>
            </a:r>
            <a:r>
              <a:rPr lang="en-US" sz="17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 of technical hiring managers</a:t>
            </a: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trust GitHub over the CV.</a:t>
            </a:r>
            <a:endParaRPr lang="en-US" sz="1700" dirty="0"/>
          </a:p>
          <a:p>
            <a:pPr marL="0" indent="0" algn="l">
              <a:lnSpc>
                <a:spcPct val="124000"/>
              </a:lnSpc>
              <a:spcAft>
                <a:spcPts val="12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 </a:t>
            </a:r>
            <a:r>
              <a:rPr lang="en-US" sz="1700" b="1" dirty="0">
                <a:solidFill>
                  <a:srgbClr val="3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3-5 polished repos</a:t>
            </a: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beat 15 tutorial clones.</a:t>
            </a:r>
            <a:endParaRPr lang="en-US" sz="1700" dirty="0"/>
          </a:p>
          <a:p>
            <a:pPr marL="0" indent="0" algn="l">
              <a:lnSpc>
                <a:spcPct val="124000"/>
              </a:lnSpc>
              <a:spcAft>
                <a:spcPts val="12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 README + live demo or it didn't happen (</a:t>
            </a:r>
            <a:r>
              <a:rPr lang="en-US" sz="1700" b="1" dirty="0">
                <a:solidFill>
                  <a:srgbClr val="FBBC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want to see it run).</a:t>
            </a:r>
            <a:endParaRPr lang="en-US" sz="1700" dirty="0"/>
          </a:p>
          <a:p>
            <a:pPr marL="0" indent="0" algn="l">
              <a:lnSpc>
                <a:spcPct val="124000"/>
              </a:lnSpc>
              <a:spcAft>
                <a:spcPts val="12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 Your repos are the interview </a:t>
            </a:r>
            <a:r>
              <a:rPr lang="en-US" sz="17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interview.</a:t>
            </a:r>
            <a:endParaRPr lang="en-US" sz="1700" dirty="0"/>
          </a:p>
        </p:txBody>
      </p:sp>
      <p:pic>
        <p:nvPicPr>
          <p:cNvPr id="4" name="Image 0" descr="/home/claude/kaust/assets/m8_proo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298448"/>
            <a:ext cx="4572000" cy="457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55664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Beamery 2025 survey; hiring-manager portfolio surveys 2024-2026.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picked the right year 🇸🇦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463040"/>
            <a:ext cx="5440680" cy="1737360"/>
          </a:xfrm>
          <a:prstGeom prst="roundRect">
            <a:avLst>
              <a:gd name="adj" fmla="val 6316"/>
            </a:avLst>
          </a:prstGeom>
          <a:solidFill>
            <a:srgbClr val="17191D"/>
          </a:solidFill>
          <a:ln w="12700">
            <a:solidFill>
              <a:srgbClr val="34383F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4" name="Text 2"/>
          <p:cNvSpPr/>
          <p:nvPr/>
        </p:nvSpPr>
        <p:spPr>
          <a:xfrm>
            <a:off x="777240" y="1463040"/>
            <a:ext cx="1965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3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788920" y="164592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Kingdom's official Year of Artificial Intelligence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309360" y="1463040"/>
            <a:ext cx="5440680" cy="1737360"/>
          </a:xfrm>
          <a:prstGeom prst="roundRect">
            <a:avLst>
              <a:gd name="adj" fmla="val 6316"/>
            </a:avLst>
          </a:prstGeom>
          <a:solidFill>
            <a:srgbClr val="17191D"/>
          </a:solidFill>
          <a:ln w="12700">
            <a:solidFill>
              <a:srgbClr val="34383F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7" name="Text 5"/>
          <p:cNvSpPr/>
          <p:nvPr/>
        </p:nvSpPr>
        <p:spPr>
          <a:xfrm>
            <a:off x="6583680" y="1463040"/>
            <a:ext cx="1965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150K+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595360" y="164592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jobs expected to open in KSA this year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02920" y="3429000"/>
            <a:ext cx="5440680" cy="1737360"/>
          </a:xfrm>
          <a:prstGeom prst="roundRect">
            <a:avLst>
              <a:gd name="adj" fmla="val 6316"/>
            </a:avLst>
          </a:prstGeom>
          <a:solidFill>
            <a:srgbClr val="17191D"/>
          </a:solidFill>
          <a:ln w="12700">
            <a:solidFill>
              <a:srgbClr val="34383F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0" name="Text 8"/>
          <p:cNvSpPr/>
          <p:nvPr/>
        </p:nvSpPr>
        <p:spPr>
          <a:xfrm>
            <a:off x="777240" y="3429000"/>
            <a:ext cx="1965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BBC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+26%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2788920" y="361188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YoY AI hiring growth (+43% for data science roles)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309360" y="3429000"/>
            <a:ext cx="5440680" cy="1737360"/>
          </a:xfrm>
          <a:prstGeom prst="roundRect">
            <a:avLst>
              <a:gd name="adj" fmla="val 6316"/>
            </a:avLst>
          </a:prstGeom>
          <a:solidFill>
            <a:srgbClr val="17191D"/>
          </a:solidFill>
          <a:ln w="12700">
            <a:solidFill>
              <a:srgbClr val="34383F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3" name="Text 11"/>
          <p:cNvSpPr/>
          <p:nvPr/>
        </p:nvSpPr>
        <p:spPr>
          <a:xfrm>
            <a:off x="6583680" y="3429000"/>
            <a:ext cx="1965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5A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20,000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595360" y="361188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SDAIA AI-specialist target; HUMAIN building in Riyadh + Dammam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18160" y="6272784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Saudi Press Agency (Mar 2026); Qureos; RemotePass 2025 Hiring Report; SDAIA; Semafor.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Do's and Don'ts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5486400" cy="4754880"/>
          </a:xfrm>
          <a:prstGeom prst="roundRect">
            <a:avLst>
              <a:gd name="adj" fmla="val 2308"/>
            </a:avLst>
          </a:prstGeom>
          <a:solidFill>
            <a:srgbClr val="17191D"/>
          </a:solidFill>
          <a:ln w="254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✅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05840" y="2240280"/>
            <a:ext cx="47548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spcAft>
                <a:spcPts val="13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</a:t>
            </a: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clear lane, everywhere</a:t>
            </a:r>
            <a:endParaRPr lang="en-US" sz="1700" dirty="0"/>
          </a:p>
          <a:p>
            <a:pPr marL="0" indent="0" algn="l">
              <a:lnSpc>
                <a:spcPct val="125000"/>
              </a:lnSpc>
              <a:spcAft>
                <a:spcPts val="13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</a:t>
            </a: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All-Star profile, top 3 skills pinned</a:t>
            </a:r>
            <a:endParaRPr lang="en-US" sz="1700" dirty="0"/>
          </a:p>
          <a:p>
            <a:pPr marL="0" indent="0" algn="l">
              <a:lnSpc>
                <a:spcPct val="125000"/>
              </a:lnSpc>
              <a:spcAft>
                <a:spcPts val="13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</a:t>
            </a: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Quantify: Problem → Action → Result</a:t>
            </a:r>
            <a:endParaRPr lang="en-US" sz="1700" dirty="0"/>
          </a:p>
          <a:p>
            <a:pPr marL="0" indent="0" algn="l">
              <a:lnSpc>
                <a:spcPct val="125000"/>
              </a:lnSpc>
              <a:spcAft>
                <a:spcPts val="13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</a:t>
            </a: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Reply fast in the golden hour</a:t>
            </a:r>
          </a:p>
          <a:p>
            <a:pPr>
              <a:lnSpc>
                <a:spcPct val="125000"/>
              </a:lnSpc>
              <a:spcAft>
                <a:spcPts val="1300"/>
              </a:spcAft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</a:t>
            </a:r>
            <a:r>
              <a:rPr lang="en-US" sz="1700" dirty="0">
                <a:latin typeface="Arial" pitchFamily="34" charset="0"/>
                <a:ea typeface="Arial" pitchFamily="34" charset="-122"/>
                <a:cs typeface="Arial" pitchFamily="34" charset="-120"/>
              </a:rPr>
              <a:t>Showing off best side</a:t>
            </a:r>
          </a:p>
          <a:p>
            <a:pPr marL="0" indent="0" algn="l">
              <a:lnSpc>
                <a:spcPct val="125000"/>
              </a:lnSpc>
              <a:spcAft>
                <a:spcPts val="1300"/>
              </a:spcAft>
              <a:buNone/>
            </a:pP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486400" cy="4754880"/>
          </a:xfrm>
          <a:prstGeom prst="roundRect">
            <a:avLst>
              <a:gd name="adj" fmla="val 2308"/>
            </a:avLst>
          </a:prstGeom>
          <a:solidFill>
            <a:srgbClr val="17191D"/>
          </a:solidFill>
          <a:ln w="25400">
            <a:solidFill>
              <a:srgbClr val="EA433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7" name="Text 5"/>
          <p:cNvSpPr/>
          <p:nvPr/>
        </p:nvSpPr>
        <p:spPr>
          <a:xfrm>
            <a:off x="6217920" y="153619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A4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❌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720840" y="2240280"/>
            <a:ext cx="47548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spcAft>
                <a:spcPts val="13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</a:t>
            </a: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and ghost</a:t>
            </a:r>
            <a:endParaRPr lang="en-US" sz="1700" dirty="0"/>
          </a:p>
          <a:p>
            <a:pPr marL="0" indent="0" algn="l">
              <a:lnSpc>
                <a:spcPct val="125000"/>
              </a:lnSpc>
              <a:spcAft>
                <a:spcPts val="13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</a:t>
            </a: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in the post body (-60%)</a:t>
            </a:r>
            <a:endParaRPr lang="en-US" sz="1700" dirty="0"/>
          </a:p>
          <a:p>
            <a:pPr marL="0" indent="0" algn="l">
              <a:lnSpc>
                <a:spcPct val="125000"/>
              </a:lnSpc>
              <a:spcAft>
                <a:spcPts val="13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</a:t>
            </a: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Too many hashtags</a:t>
            </a:r>
            <a:endParaRPr lang="en-US" sz="1700" dirty="0"/>
          </a:p>
          <a:p>
            <a:pPr marL="0" indent="0" algn="l">
              <a:lnSpc>
                <a:spcPct val="125000"/>
              </a:lnSpc>
              <a:spcAft>
                <a:spcPts val="13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</a:t>
            </a: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stuffing</a:t>
            </a:r>
            <a:endParaRPr lang="en-US" sz="1700" dirty="0"/>
          </a:p>
          <a:p>
            <a:pPr marL="0" indent="0" algn="l">
              <a:lnSpc>
                <a:spcPct val="125000"/>
              </a:lnSpc>
              <a:spcAft>
                <a:spcPts val="13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</a:t>
            </a: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Inflating verifiable claims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do next?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10607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4000"/>
              </a:lnSpc>
              <a:spcAft>
                <a:spcPts val="1200"/>
              </a:spcAft>
            </a:pPr>
            <a:r>
              <a:rPr lang="en-US" sz="2000" dirty="0">
                <a:latin typeface="Arial" pitchFamily="34" charset="0"/>
                <a:ea typeface="Arial" pitchFamily="34" charset="-122"/>
                <a:cs typeface="Arial" pitchFamily="34" charset="-120"/>
              </a:rPr>
              <a:t>●   </a:t>
            </a:r>
            <a:r>
              <a:rPr lang="en-US" sz="2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Complete the </a:t>
            </a:r>
            <a:r>
              <a:rPr lang="en-US" sz="20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</a:t>
            </a:r>
          </a:p>
          <a:p>
            <a:pPr>
              <a:lnSpc>
                <a:spcPct val="124000"/>
              </a:lnSpc>
              <a:spcAft>
                <a:spcPts val="1200"/>
              </a:spcAft>
            </a:pPr>
            <a:r>
              <a:rPr lang="en-US" sz="2000" dirty="0">
                <a:latin typeface="Arial" pitchFamily="34" charset="0"/>
                <a:ea typeface="Arial" pitchFamily="34" charset="-122"/>
                <a:cs typeface="Arial" pitchFamily="34" charset="-120"/>
              </a:rPr>
              <a:t>●   </a:t>
            </a:r>
            <a:r>
              <a:rPr lang="en-US" sz="20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</a:t>
            </a:r>
            <a:r>
              <a:rPr lang="en-US" sz="2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 regularly</a:t>
            </a:r>
          </a:p>
          <a:p>
            <a:pPr>
              <a:lnSpc>
                <a:spcPct val="124000"/>
              </a:lnSpc>
              <a:spcAft>
                <a:spcPts val="1200"/>
              </a:spcAft>
            </a:pPr>
            <a:r>
              <a:rPr lang="en-US" sz="2000" dirty="0">
                <a:latin typeface="Arial" pitchFamily="34" charset="0"/>
                <a:ea typeface="Arial" pitchFamily="34" charset="-122"/>
                <a:cs typeface="Arial" pitchFamily="34" charset="-120"/>
              </a:rPr>
              <a:t>●   </a:t>
            </a:r>
            <a:r>
              <a:rPr lang="en-US" sz="2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</a:t>
            </a:r>
            <a:r>
              <a:rPr lang="en-US" sz="2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 with the right people</a:t>
            </a:r>
          </a:p>
          <a:p>
            <a:pPr algn="ctr" fontAlgn="base"/>
            <a:endParaRPr lang="en-US" sz="2000" b="1" dirty="0">
              <a:latin typeface="Arial" pitchFamily="34" charset="0"/>
              <a:cs typeface="Arial" pitchFamily="34" charset="-120"/>
            </a:endParaRPr>
          </a:p>
          <a:p>
            <a:pPr algn="ctr" fontAlgn="base"/>
            <a:endParaRPr lang="en-US" sz="2000" b="1" dirty="0">
              <a:latin typeface="Arial" pitchFamily="34" charset="0"/>
              <a:cs typeface="Arial" pitchFamily="34" charset="-120"/>
            </a:endParaRPr>
          </a:p>
          <a:p>
            <a:pPr algn="ctr" fontAlgn="base"/>
            <a:endParaRPr lang="en-US" sz="2000" b="1" dirty="0">
              <a:latin typeface="Arial" pitchFamily="34" charset="0"/>
              <a:cs typeface="Arial" pitchFamily="34" charset="-120"/>
            </a:endParaRPr>
          </a:p>
          <a:p>
            <a:pPr algn="ctr" fontAlgn="base"/>
            <a:endParaRPr lang="en-US" sz="2000" b="1" dirty="0">
              <a:latin typeface="Arial" pitchFamily="34" charset="0"/>
              <a:cs typeface="Arial" pitchFamily="34" charset="-120"/>
            </a:endParaRPr>
          </a:p>
          <a:p>
            <a:pPr algn="ctr" fontAlgn="base"/>
            <a:r>
              <a:rPr lang="en-SA" sz="2000" b="1" dirty="0">
                <a:latin typeface="Arial" pitchFamily="34" charset="0"/>
                <a:cs typeface="Arial" pitchFamily="34" charset="-120"/>
              </a:rPr>
              <a:t>'Worth nothing, change into anything.’</a:t>
            </a:r>
          </a:p>
          <a:p>
            <a:pPr fontAlgn="base"/>
            <a:r>
              <a:rPr lang="en-SA" dirty="0"/>
              <a:t>                                                                                                                   </a:t>
            </a:r>
            <a:r>
              <a:rPr lang="en-SA" dirty="0">
                <a:solidFill>
                  <a:schemeClr val="bg1">
                    <a:lumMod val="50000"/>
                    <a:lumOff val="50000"/>
                  </a:schemeClr>
                </a:solidFill>
              </a:rPr>
              <a:t>-</a:t>
            </a:r>
            <a:r>
              <a:rPr lang="en-SA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CG Chapter 144</a:t>
            </a:r>
            <a:br>
              <a:rPr lang="en-SA" dirty="0"/>
            </a:br>
            <a:endParaRPr lang="en-SA" dirty="0"/>
          </a:p>
          <a:p>
            <a:pPr>
              <a:lnSpc>
                <a:spcPct val="124000"/>
              </a:lnSpc>
              <a:spcAft>
                <a:spcPts val="1200"/>
              </a:spcAft>
            </a:pPr>
            <a:endParaRPr lang="en-US" sz="2000" b="1" dirty="0"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85800" y="58064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(Don't forget to eat and sleep but </a:t>
            </a:r>
            <a:r>
              <a:rPr lang="en-US" sz="1700" dirty="0" err="1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</a:t>
            </a:r>
            <a:r>
              <a:rPr lang="en-US" sz="17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first) </a:t>
            </a:r>
          </a:p>
        </p:txBody>
      </p:sp>
      <p:pic>
        <p:nvPicPr>
          <p:cNvPr id="5" name="Picture 4" descr="500 Connection Linkedin Memes | TikTok">
            <a:extLst>
              <a:ext uri="{FF2B5EF4-FFF2-40B4-BE49-F238E27FC236}">
                <a16:creationId xmlns:a16="http://schemas.microsoft.com/office/drawing/2014/main" id="{5F57759C-F15D-C44B-8E8D-D459E15D58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1982" y="1161288"/>
            <a:ext cx="3197098" cy="446578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ATS </a:t>
            </a:r>
            <a:r>
              <a:rPr lang="en-US" sz="340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21208" y="102412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Beat the robot before you meet the human.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21208" y="155448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BBC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 </a:t>
            </a:r>
            <a:r>
              <a:rPr lang="en-US" sz="135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CVs are filtered by an </a:t>
            </a: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Applicant Tracking System</a:t>
            </a:r>
            <a:r>
              <a:rPr lang="en-US" sz="135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before a person ever reads them.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21208" y="2185416"/>
            <a:ext cx="274320" cy="274320"/>
          </a:xfrm>
          <a:prstGeom prst="ellipse">
            <a:avLst/>
          </a:prstGeom>
          <a:solidFill>
            <a:srgbClr val="17191D"/>
          </a:solidFill>
          <a:ln w="15875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6" name="Text 4"/>
          <p:cNvSpPr/>
          <p:nvPr/>
        </p:nvSpPr>
        <p:spPr>
          <a:xfrm>
            <a:off x="521208" y="2185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2130552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column, no tables or text boxes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32688" y="2423160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Parsers read left-to-right, top-to-bottom. Columns scramble it.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21208" y="2935224"/>
            <a:ext cx="274320" cy="274320"/>
          </a:xfrm>
          <a:prstGeom prst="ellipse">
            <a:avLst/>
          </a:prstGeom>
          <a:solidFill>
            <a:srgbClr val="17191D"/>
          </a:solidFill>
          <a:ln w="15875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0" name="Text 8"/>
          <p:cNvSpPr/>
          <p:nvPr/>
        </p:nvSpPr>
        <p:spPr>
          <a:xfrm>
            <a:off x="521208" y="2935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32688" y="2880360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section headers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32688" y="3172968"/>
            <a:ext cx="2898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Experience, Education, Skills, Projects.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21208" y="3685032"/>
            <a:ext cx="274320" cy="274320"/>
          </a:xfrm>
          <a:prstGeom prst="ellipse">
            <a:avLst/>
          </a:prstGeom>
          <a:solidFill>
            <a:srgbClr val="17191D"/>
          </a:solidFill>
          <a:ln w="15875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4" name="Text 12"/>
          <p:cNvSpPr/>
          <p:nvPr/>
        </p:nvSpPr>
        <p:spPr>
          <a:xfrm>
            <a:off x="521208" y="3685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32688" y="3630168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text, never images or icons for content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932688" y="3922776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scanner can't select it, it doesn't exist.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21208" y="4434840"/>
            <a:ext cx="274320" cy="274320"/>
          </a:xfrm>
          <a:prstGeom prst="ellipse">
            <a:avLst/>
          </a:prstGeom>
          <a:solidFill>
            <a:srgbClr val="17191D"/>
          </a:solidFill>
          <a:ln w="15875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8" name="Text 16"/>
          <p:cNvSpPr/>
          <p:nvPr/>
        </p:nvSpPr>
        <p:spPr>
          <a:xfrm>
            <a:off x="521208" y="4434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32688" y="4379976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Mirror the job's keywords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932688" y="4672584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their exact terms: "Computer Vision," "RAG," "PyTorch."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21208" y="5184648"/>
            <a:ext cx="274320" cy="274320"/>
          </a:xfrm>
          <a:prstGeom prst="ellipse">
            <a:avLst/>
          </a:prstGeom>
          <a:solidFill>
            <a:srgbClr val="17191D"/>
          </a:solidFill>
          <a:ln w="15875">
            <a:solidFill>
              <a:srgbClr val="EA433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2" name="Text 20"/>
          <p:cNvSpPr/>
          <p:nvPr/>
        </p:nvSpPr>
        <p:spPr>
          <a:xfrm>
            <a:off x="521208" y="5184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4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32688" y="5129784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headshots, graphics, or fancy fonts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932688" y="5422392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break the parse and score you lower.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21208" y="5870448"/>
            <a:ext cx="1905903" cy="566928"/>
          </a:xfrm>
          <a:prstGeom prst="roundRect">
            <a:avLst>
              <a:gd name="adj" fmla="val 12903"/>
            </a:avLst>
          </a:prstGeom>
          <a:solidFill>
            <a:srgbClr val="17191D"/>
          </a:solidFill>
          <a:ln w="12700">
            <a:solidFill>
              <a:srgbClr val="34383F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6" name="Text 24"/>
          <p:cNvSpPr/>
          <p:nvPr/>
        </p:nvSpPr>
        <p:spPr>
          <a:xfrm>
            <a:off x="685800" y="5934456"/>
            <a:ext cx="2980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3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</a:t>
            </a: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Overleaf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85800" y="6153912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ATS-friendly LaTeX resume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491740" y="5870448"/>
            <a:ext cx="2052828" cy="566928"/>
          </a:xfrm>
          <a:prstGeom prst="roundRect">
            <a:avLst>
              <a:gd name="adj" fmla="val 12903"/>
            </a:avLst>
          </a:prstGeom>
          <a:solidFill>
            <a:srgbClr val="17191D"/>
          </a:solidFill>
          <a:ln w="15875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SA" dirty="0"/>
          </a:p>
        </p:txBody>
      </p:sp>
      <p:sp>
        <p:nvSpPr>
          <p:cNvPr id="29" name="Text 27"/>
          <p:cNvSpPr/>
          <p:nvPr/>
        </p:nvSpPr>
        <p:spPr>
          <a:xfrm>
            <a:off x="2563978" y="5934456"/>
            <a:ext cx="2980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IT</a:t>
            </a: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madaric.site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563978" y="6142059"/>
            <a:ext cx="2052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CVs’, Rank opportunities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258507" y="566928"/>
            <a:ext cx="4457700" cy="5715000"/>
          </a:xfrm>
          <a:prstGeom prst="roundRect">
            <a:avLst>
              <a:gd name="adj" fmla="val 1231"/>
            </a:avLst>
          </a:prstGeom>
          <a:solidFill>
            <a:srgbClr val="17191D"/>
          </a:solidFill>
          <a:ln w="12700">
            <a:solidFill>
              <a:srgbClr val="34383F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pic>
        <p:nvPicPr>
          <p:cNvPr id="32" name="Image 0" descr="/home/claude/slide/assets/c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9947" y="658368"/>
            <a:ext cx="4274820" cy="5532120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521208" y="6547104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A8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Jobscan 2024, hiring-manager ATS surveys 2024-2025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kaust/assets/kaus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509" y="265176"/>
            <a:ext cx="1414463" cy="658368"/>
          </a:xfrm>
          <a:prstGeom prst="rect">
            <a:avLst/>
          </a:prstGeom>
        </p:spPr>
      </p:pic>
      <p:pic>
        <p:nvPicPr>
          <p:cNvPr id="3" name="Image 1" descr="/home/claude/kaust/assets/k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7905" y="320040"/>
            <a:ext cx="1104703" cy="60350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2468880"/>
            <a:ext cx="109087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Thanks for Attending!</a:t>
            </a:r>
            <a:endParaRPr lang="en-US" sz="6600" dirty="0"/>
          </a:p>
        </p:txBody>
      </p:sp>
      <p:sp>
        <p:nvSpPr>
          <p:cNvPr id="5" name="Text 1"/>
          <p:cNvSpPr/>
          <p:nvPr/>
        </p:nvSpPr>
        <p:spPr>
          <a:xfrm>
            <a:off x="633816" y="581695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By: Turki Alshuaibi</a:t>
            </a:r>
            <a:endParaRPr lang="en-US" sz="260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728B9AC5-640F-58C2-B277-EEC4D0D626C6}"/>
              </a:ext>
            </a:extLst>
          </p:cNvPr>
          <p:cNvSpPr/>
          <p:nvPr/>
        </p:nvSpPr>
        <p:spPr>
          <a:xfrm>
            <a:off x="4212550" y="3705369"/>
            <a:ext cx="3763851" cy="650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ct val="96000"/>
              </a:lnSpc>
            </a:pPr>
            <a:r>
              <a:rPr lang="en-US" sz="4400" b="1" dirty="0">
                <a:solidFill>
                  <a:srgbClr val="3B82F6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Go Network!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b196578f-6ae1-40cd-93dd-1a3b7a6ede66}" enabled="1" method="Standard" siteId="{2c86bbfc-8d04-41ff-a83a-942f075e0f6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1959</TotalTime>
  <Words>987</Words>
  <Application>Microsoft Macintosh PowerPoint</Application>
  <PresentationFormat>Widescreen</PresentationFormat>
  <Paragraphs>158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Montserrat ExtraBold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Present Yourself in the Professional Market</dc:title>
  <dc:subject>PptxGenJS Presentation</dc:subject>
  <dc:creator>Turki Alshuaibi</dc:creator>
  <cp:lastModifiedBy>تركي خالد الشعيبي</cp:lastModifiedBy>
  <cp:revision>9</cp:revision>
  <dcterms:created xsi:type="dcterms:W3CDTF">2026-07-08T06:00:20Z</dcterms:created>
  <dcterms:modified xsi:type="dcterms:W3CDTF">2026-07-27T09:38:58Z</dcterms:modified>
</cp:coreProperties>
</file>