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23"/>
  </p:notes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7" r:id="rId9"/>
    <p:sldId id="268" r:id="rId10"/>
    <p:sldId id="269" r:id="rId11"/>
    <p:sldId id="271" r:id="rId12"/>
    <p:sldId id="272" r:id="rId13"/>
    <p:sldId id="274" r:id="rId14"/>
    <p:sldId id="275" r:id="rId15"/>
    <p:sldId id="279" r:id="rId16"/>
    <p:sldId id="277" r:id="rId17"/>
    <p:sldId id="283" r:id="rId18"/>
    <p:sldId id="281" r:id="rId19"/>
    <p:sldId id="284" r:id="rId20"/>
    <p:sldId id="282" r:id="rId21"/>
    <p:sldId id="285" r:id="rId22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FF17"/>
    <a:srgbClr val="3090E4"/>
    <a:srgbClr val="848E85"/>
    <a:srgbClr val="D97757"/>
    <a:srgbClr val="A995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153"/>
    <p:restoredTop sz="94610"/>
  </p:normalViewPr>
  <p:slideViewPr>
    <p:cSldViewPr snapToGrid="0" snapToObjects="1">
      <p:cViewPr>
        <p:scale>
          <a:sx n="53" d="100"/>
          <a:sy n="53" d="100"/>
        </p:scale>
        <p:origin x="632" y="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6053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BC100-51C2-1A59-6AF6-2D7F385C5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C50916-5F1B-86FA-7312-65B09EB06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F56ADE-2AE1-B43F-64DB-5DFA8E369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076AB-3ACB-9990-481F-B7413601CF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215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67471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65228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7217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9932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35152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88597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4391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683581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948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29044755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84887779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12190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40220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0538381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0652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7782315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7034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30201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336006777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9624577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52713657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0201454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077506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1">
              <a:rPr lang="en-US" smtClean="0"/>
              <a:pPr/>
              <a:t>8/10/26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54451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07162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8518492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4968419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2479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8/10/26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690BA5-EACF-4ABD-B886-9E014BD83AF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07075" y="63500"/>
            <a:ext cx="603314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A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Public - عام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36F861-33C9-B907-C1E1-D90562F3319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07075" y="6642100"/>
            <a:ext cx="603314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A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Public - عام</a:t>
            </a:r>
          </a:p>
        </p:txBody>
      </p:sp>
    </p:spTree>
    <p:extLst>
      <p:ext uri="{BB962C8B-B14F-4D97-AF65-F5344CB8AC3E}">
        <p14:creationId xmlns:p14="http://schemas.microsoft.com/office/powerpoint/2010/main" val="2367315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  <p:sldLayoutId id="2147483769" r:id="rId18"/>
    <p:sldLayoutId id="2147483770" r:id="rId19"/>
    <p:sldLayoutId id="2147483771" r:id="rId20"/>
    <p:sldLayoutId id="2147483772" r:id="rId21"/>
    <p:sldLayoutId id="2147483773" r:id="rId22"/>
    <p:sldLayoutId id="2147483774" r:id="rId23"/>
    <p:sldLayoutId id="2147483775" r:id="rId24"/>
    <p:sldLayoutId id="2147483776" r:id="rId25"/>
    <p:sldLayoutId id="2147483777" r:id="rId26"/>
    <p:sldLayoutId id="2147483778" r:id="rId27"/>
    <p:sldLayoutId id="2147483779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ui.shadcn.com/" TargetMode="External"/><Relationship Id="rId13" Type="http://schemas.openxmlformats.org/officeDocument/2006/relationships/hyperlink" Target="https://www.fontshare.com/" TargetMode="External"/><Relationship Id="rId3" Type="http://schemas.openxmlformats.org/officeDocument/2006/relationships/hyperlink" Target="https://godly.website/" TargetMode="External"/><Relationship Id="rId7" Type="http://schemas.openxmlformats.org/officeDocument/2006/relationships/hyperlink" Target="https://21st.dev/" TargetMode="External"/><Relationship Id="rId12" Type="http://schemas.openxmlformats.org/officeDocument/2006/relationships/hyperlink" Target="https://lucide.dev/" TargetMode="External"/><Relationship Id="rId17" Type="http://schemas.openxmlformats.org/officeDocument/2006/relationships/hyperlink" Target="https://coolors.co/" TargetMode="External"/><Relationship Id="rId2" Type="http://schemas.openxmlformats.org/officeDocument/2006/relationships/hyperlink" Target="https://drive.google.com/file/d/1P-d5zBRd7P3BOjxzpGsK-rGr7UKpCeQh/view?usp=share_link" TargetMode="External"/><Relationship Id="rId16" Type="http://schemas.openxmlformats.org/officeDocument/2006/relationships/hyperlink" Target="https://higgsfield.ai/" TargetMode="External"/><Relationship Id="rId1" Type="http://schemas.openxmlformats.org/officeDocument/2006/relationships/slideLayout" Target="../slideLayouts/slideLayout28.xml"/><Relationship Id="rId6" Type="http://schemas.openxmlformats.org/officeDocument/2006/relationships/hyperlink" Target="https://land-book.com/" TargetMode="External"/><Relationship Id="rId11" Type="http://schemas.openxmlformats.org/officeDocument/2006/relationships/hyperlink" Target="https://reactbits.dev/" TargetMode="External"/><Relationship Id="rId5" Type="http://schemas.openxmlformats.org/officeDocument/2006/relationships/hyperlink" Target="https://dribbble.com/" TargetMode="External"/><Relationship Id="rId15" Type="http://schemas.openxmlformats.org/officeDocument/2006/relationships/hyperlink" Target="https://spline.design/" TargetMode="External"/><Relationship Id="rId10" Type="http://schemas.openxmlformats.org/officeDocument/2006/relationships/hyperlink" Target="https://ui.aceternity.com/" TargetMode="External"/><Relationship Id="rId4" Type="http://schemas.openxmlformats.org/officeDocument/2006/relationships/hyperlink" Target="https://mobbin.com/" TargetMode="External"/><Relationship Id="rId9" Type="http://schemas.openxmlformats.org/officeDocument/2006/relationships/hyperlink" Target="https://magicui.design/" TargetMode="External"/><Relationship Id="rId14" Type="http://schemas.openxmlformats.org/officeDocument/2006/relationships/hyperlink" Target="https://lottiefile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" y="3154680"/>
            <a:ext cx="32004" cy="1005840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4" name="Image 0" descr="/mnt/data/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41" y="256032"/>
            <a:ext cx="1473398" cy="685800"/>
          </a:xfrm>
          <a:prstGeom prst="rect">
            <a:avLst/>
          </a:prstGeom>
        </p:spPr>
      </p:pic>
      <p:pic>
        <p:nvPicPr>
          <p:cNvPr id="5" name="Image 1" descr="/mnt/data/template_extract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698" y="228600"/>
            <a:ext cx="1422724" cy="7772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" y="1234440"/>
            <a:ext cx="1088136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3"/>
          <p:cNvSpPr/>
          <p:nvPr/>
        </p:nvSpPr>
        <p:spPr>
          <a:xfrm>
            <a:off x="960120" y="262890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Agentic Design: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From Brand to Production</a:t>
            </a:r>
            <a:endParaRPr lang="en-US" sz="4000" dirty="0"/>
          </a:p>
        </p:txBody>
      </p:sp>
      <p:sp>
        <p:nvSpPr>
          <p:cNvPr id="8" name="Shape 4"/>
          <p:cNvSpPr/>
          <p:nvPr/>
        </p:nvSpPr>
        <p:spPr>
          <a:xfrm>
            <a:off x="3284220" y="4160520"/>
            <a:ext cx="5623560" cy="0"/>
          </a:xfrm>
          <a:prstGeom prst="line">
            <a:avLst/>
          </a:prstGeom>
          <a:noFill/>
          <a:ln w="9525">
            <a:solidFill>
              <a:srgbClr val="5E5E5E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6"/>
          <p:cNvSpPr/>
          <p:nvPr/>
        </p:nvSpPr>
        <p:spPr>
          <a:xfrm>
            <a:off x="4480560" y="4325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KAUST Summer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575957" y="5257582"/>
            <a:ext cx="5040086" cy="511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Prepared By: Turki Alshuaibi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" y="3154680"/>
            <a:ext cx="32004" cy="1005840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Seen This Website Before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1078992"/>
            <a:ext cx="7680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7A7A7"/>
                </a:solidFill>
              </a:rPr>
              <a:t>The default AI startup page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86336" y="1737360"/>
            <a:ext cx="32509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•   Purple gradients everywhere
•   Glass cards and floating icons
•   Generic startup copy
•   Looks clean for 10 seconds
•   Could belong to any company
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00726" y="53149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DB515"/>
                </a:solidFill>
              </a:rPr>
              <a:t>The agent did not fail.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DB515"/>
                </a:solidFill>
              </a:rPr>
              <a:t>The direction was empty.</a:t>
            </a:r>
            <a:endParaRPr lang="en-US" sz="2000" dirty="0"/>
          </a:p>
        </p:txBody>
      </p:sp>
      <p:pic>
        <p:nvPicPr>
          <p:cNvPr id="29" name="Picture 28" descr="Top 25 Vibe Coding Tools That Will Transform Your Development Workflow in  2026">
            <a:extLst>
              <a:ext uri="{FF2B5EF4-FFF2-40B4-BE49-F238E27FC236}">
                <a16:creationId xmlns:a16="http://schemas.microsoft.com/office/drawing/2014/main" id="{94CEFB3D-9E13-7DFF-411B-AECE40AC8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740877"/>
            <a:ext cx="7772400" cy="33785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" y="3154680"/>
            <a:ext cx="32004" cy="1005840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Backstory: The Purple Site, and a Jump to some Designs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1078992"/>
            <a:ext cx="7680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7A7A7"/>
                </a:solidFill>
              </a:rPr>
              <a:t>Use it as the running case study</a:t>
            </a:r>
            <a:endParaRPr lang="en-US" sz="950" dirty="0"/>
          </a:p>
        </p:txBody>
      </p:sp>
      <p:pic>
        <p:nvPicPr>
          <p:cNvPr id="18" name="Picture 17" descr="Why Your AI Keeps Building the Same Purple Gradient Website">
            <a:extLst>
              <a:ext uri="{FF2B5EF4-FFF2-40B4-BE49-F238E27FC236}">
                <a16:creationId xmlns:a16="http://schemas.microsoft.com/office/drawing/2014/main" id="{33E5336B-07DD-B74F-5C14-C74AB8469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040" y="950976"/>
            <a:ext cx="5571919" cy="57250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" y="3154680"/>
            <a:ext cx="32004" cy="1005840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Agentic Design Actually Means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1078992"/>
            <a:ext cx="7680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7A7A7"/>
                </a:solidFill>
              </a:rPr>
              <a:t>Not one prompt. A managed production loop.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6629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Agentic design is the practice of directing AI agents through context, constraints, references, tools, and review loops to produce intentional digital experiences.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324612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111318"/>
          </a:solidFill>
          <a:ln w="12700">
            <a:solidFill>
              <a:srgbClr val="252B3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1005840" y="34107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8BD2"/>
                </a:solidFill>
              </a:rPr>
              <a:t>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34290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8BD2"/>
                </a:solidFill>
              </a:rPr>
              <a:t>Context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3272" y="38130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/>
              <a:t>Files that define product, brand, codebase, and constraints.</a:t>
            </a:r>
          </a:p>
        </p:txBody>
      </p:sp>
      <p:sp>
        <p:nvSpPr>
          <p:cNvPr id="11" name="Shape 9"/>
          <p:cNvSpPr/>
          <p:nvPr/>
        </p:nvSpPr>
        <p:spPr>
          <a:xfrm>
            <a:off x="3520440" y="324612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111318"/>
          </a:solidFill>
          <a:ln w="12700">
            <a:solidFill>
              <a:srgbClr val="252B36"/>
            </a:solidFill>
            <a:prstDash val="solid"/>
          </a:ln>
        </p:spPr>
        <p:txBody>
          <a:bodyPr/>
          <a:lstStyle/>
          <a:p>
            <a:endParaRPr lang="en-SA" dirty="0"/>
          </a:p>
        </p:txBody>
      </p:sp>
      <p:sp>
        <p:nvSpPr>
          <p:cNvPr id="12" name="Text 10"/>
          <p:cNvSpPr/>
          <p:nvPr/>
        </p:nvSpPr>
        <p:spPr>
          <a:xfrm>
            <a:off x="3657600" y="34107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DB515"/>
                </a:solidFill>
              </a:rPr>
              <a:t>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0" y="34290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DB515"/>
                </a:solidFill>
              </a:rPr>
              <a:t>Tools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85032" y="38130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/>
              <a:t>Coding, browser, image, video, deployment, and QA agents.</a:t>
            </a:r>
          </a:p>
        </p:txBody>
      </p:sp>
      <p:sp>
        <p:nvSpPr>
          <p:cNvPr id="15" name="Shape 13"/>
          <p:cNvSpPr/>
          <p:nvPr/>
        </p:nvSpPr>
        <p:spPr>
          <a:xfrm>
            <a:off x="6172200" y="32461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111318"/>
          </a:solidFill>
          <a:ln w="12700">
            <a:solidFill>
              <a:srgbClr val="252B3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6" name="Text 14"/>
          <p:cNvSpPr/>
          <p:nvPr/>
        </p:nvSpPr>
        <p:spPr>
          <a:xfrm>
            <a:off x="6309360" y="34107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A651"/>
                </a:solidFill>
              </a:rPr>
              <a:t>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66560" y="34290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A651"/>
                </a:solidFill>
              </a:rPr>
              <a:t>Feedback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36792" y="38130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/>
              <a:t>Rendered screenshots, diffs, tests, and human judgment.</a:t>
            </a:r>
          </a:p>
        </p:txBody>
      </p:sp>
      <p:sp>
        <p:nvSpPr>
          <p:cNvPr id="19" name="Text 17"/>
          <p:cNvSpPr/>
          <p:nvPr/>
        </p:nvSpPr>
        <p:spPr>
          <a:xfrm>
            <a:off x="8001000" y="17373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DB515"/>
                </a:solidFill>
              </a:rPr>
              <a:t>The agent builds. You decide.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8915400" y="3246120"/>
            <a:ext cx="2057400" cy="1188720"/>
          </a:xfrm>
          <a:prstGeom prst="roundRect">
            <a:avLst>
              <a:gd name="adj" fmla="val 6154"/>
            </a:avLst>
          </a:prstGeom>
          <a:solidFill>
            <a:srgbClr val="151922"/>
          </a:solidFill>
          <a:ln w="12700">
            <a:solidFill>
              <a:srgbClr val="222833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1" name="Text 19"/>
          <p:cNvSpPr/>
          <p:nvPr/>
        </p:nvSpPr>
        <p:spPr>
          <a:xfrm>
            <a:off x="9098280" y="34747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DB515"/>
                </a:solidFill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915399" y="3959352"/>
            <a:ext cx="20573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/>
              <a:t>Intent, Taste, Risk, Approval</a:t>
            </a:r>
          </a:p>
        </p:txBody>
      </p:sp>
      <p:sp>
        <p:nvSpPr>
          <p:cNvPr id="23" name="Text 21"/>
          <p:cNvSpPr/>
          <p:nvPr/>
        </p:nvSpPr>
        <p:spPr>
          <a:xfrm>
            <a:off x="603504" y="6537960"/>
            <a:ext cx="10789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6F7378"/>
                </a:solidFill>
              </a:rPr>
              <a:t>Sources: OpenAI Agents SDK docs; Google Antigravity overview</a:t>
            </a:r>
            <a:endParaRPr lang="en-US" sz="5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20">
            <a:extLst>
              <a:ext uri="{FF2B5EF4-FFF2-40B4-BE49-F238E27FC236}">
                <a16:creationId xmlns:a16="http://schemas.microsoft.com/office/drawing/2014/main" id="{18037271-4C6C-CA78-3EFB-0B977963FFD6}"/>
              </a:ext>
            </a:extLst>
          </p:cNvPr>
          <p:cNvSpPr/>
          <p:nvPr/>
        </p:nvSpPr>
        <p:spPr>
          <a:xfrm>
            <a:off x="8214360" y="3111680"/>
            <a:ext cx="3200400" cy="1458468"/>
          </a:xfrm>
          <a:prstGeom prst="roundRect">
            <a:avLst>
              <a:gd name="adj" fmla="val 6780"/>
            </a:avLst>
          </a:prstGeom>
          <a:solidFill>
            <a:srgbClr val="111318"/>
          </a:solidFill>
          <a:ln w="12700">
            <a:solidFill>
              <a:srgbClr val="252B36"/>
            </a:solidFill>
            <a:prstDash val="solid"/>
          </a:ln>
        </p:spPr>
        <p:txBody>
          <a:bodyPr/>
          <a:lstStyle/>
          <a:p>
            <a:endParaRPr lang="en-SA" dirty="0"/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561CD339-DA11-378C-3745-DE107B3F2F06}"/>
              </a:ext>
            </a:extLst>
          </p:cNvPr>
          <p:cNvSpPr/>
          <p:nvPr/>
        </p:nvSpPr>
        <p:spPr>
          <a:xfrm>
            <a:off x="777240" y="3095244"/>
            <a:ext cx="3200400" cy="1472184"/>
          </a:xfrm>
          <a:prstGeom prst="roundRect">
            <a:avLst>
              <a:gd name="adj" fmla="val 6780"/>
            </a:avLst>
          </a:prstGeom>
          <a:solidFill>
            <a:srgbClr val="111318"/>
          </a:solidFill>
          <a:ln w="12700">
            <a:solidFill>
              <a:srgbClr val="252B36"/>
            </a:solidFill>
            <a:prstDash val="solid"/>
          </a:ln>
        </p:spPr>
        <p:txBody>
          <a:bodyPr/>
          <a:lstStyle/>
          <a:p>
            <a:endParaRPr lang="en-SA" dirty="0"/>
          </a:p>
        </p:txBody>
      </p:sp>
      <p:sp>
        <p:nvSpPr>
          <p:cNvPr id="3" name="Shape 1"/>
          <p:cNvSpPr/>
          <p:nvPr/>
        </p:nvSpPr>
        <p:spPr>
          <a:xfrm>
            <a:off x="45720" y="3154680"/>
            <a:ext cx="32004" cy="1005840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Map + The Harness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1078992"/>
            <a:ext cx="7680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7A7A7"/>
                </a:solidFill>
              </a:rPr>
              <a:t>Different agents, different failure modes.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3200400" cy="1472184"/>
          </a:xfrm>
          <a:prstGeom prst="roundRect">
            <a:avLst>
              <a:gd name="adj" fmla="val 6780"/>
            </a:avLst>
          </a:prstGeom>
          <a:solidFill>
            <a:srgbClr val="111318"/>
          </a:solidFill>
          <a:ln w="12700">
            <a:solidFill>
              <a:srgbClr val="252B36"/>
            </a:solidFill>
            <a:prstDash val="solid"/>
          </a:ln>
        </p:spPr>
        <p:txBody>
          <a:bodyPr/>
          <a:lstStyle/>
          <a:p>
            <a:endParaRPr lang="en-SA" dirty="0"/>
          </a:p>
        </p:txBody>
      </p:sp>
      <p:sp>
        <p:nvSpPr>
          <p:cNvPr id="8" name="Text 6"/>
          <p:cNvSpPr/>
          <p:nvPr/>
        </p:nvSpPr>
        <p:spPr>
          <a:xfrm>
            <a:off x="1610460" y="1875359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A995FD"/>
                </a:solidFill>
              </a:rPr>
              <a:t>Codex</a:t>
            </a:r>
            <a:endParaRPr lang="en-US" sz="2000" dirty="0">
              <a:solidFill>
                <a:srgbClr val="A995FD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960120" y="2507134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/>
              <a:t>Codebase work, diffs, tasks, tests</a:t>
            </a:r>
          </a:p>
        </p:txBody>
      </p:sp>
      <p:sp>
        <p:nvSpPr>
          <p:cNvPr id="10" name="Shape 8"/>
          <p:cNvSpPr/>
          <p:nvPr/>
        </p:nvSpPr>
        <p:spPr>
          <a:xfrm>
            <a:off x="4480560" y="1508760"/>
            <a:ext cx="3200400" cy="1472184"/>
          </a:xfrm>
          <a:prstGeom prst="roundRect">
            <a:avLst>
              <a:gd name="adj" fmla="val 6780"/>
            </a:avLst>
          </a:prstGeom>
          <a:solidFill>
            <a:srgbClr val="111318"/>
          </a:solidFill>
          <a:ln w="12700">
            <a:solidFill>
              <a:srgbClr val="252B36"/>
            </a:solidFill>
            <a:prstDash val="solid"/>
          </a:ln>
        </p:spPr>
        <p:txBody>
          <a:bodyPr/>
          <a:lstStyle/>
          <a:p>
            <a:endParaRPr lang="en-SA" dirty="0"/>
          </a:p>
        </p:txBody>
      </p:sp>
      <p:sp>
        <p:nvSpPr>
          <p:cNvPr id="12" name="Text 10"/>
          <p:cNvSpPr/>
          <p:nvPr/>
        </p:nvSpPr>
        <p:spPr>
          <a:xfrm>
            <a:off x="5463299" y="1774775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D97757"/>
                </a:solidFill>
              </a:rPr>
              <a:t>Claude Code</a:t>
            </a:r>
            <a:endParaRPr lang="en-US" sz="2000" dirty="0">
              <a:solidFill>
                <a:srgbClr val="D97757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55820" y="2507134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/>
              <a:t>Project memory, planning, execution</a:t>
            </a:r>
          </a:p>
        </p:txBody>
      </p:sp>
      <p:sp>
        <p:nvSpPr>
          <p:cNvPr id="14" name="Shape 12"/>
          <p:cNvSpPr/>
          <p:nvPr/>
        </p:nvSpPr>
        <p:spPr>
          <a:xfrm>
            <a:off x="8183880" y="1508760"/>
            <a:ext cx="3200400" cy="1391566"/>
          </a:xfrm>
          <a:prstGeom prst="roundRect">
            <a:avLst>
              <a:gd name="adj" fmla="val 6780"/>
            </a:avLst>
          </a:prstGeom>
          <a:solidFill>
            <a:srgbClr val="111318"/>
          </a:solidFill>
          <a:ln w="12700">
            <a:solidFill>
              <a:srgbClr val="252B3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6" name="Text 14"/>
          <p:cNvSpPr/>
          <p:nvPr/>
        </p:nvSpPr>
        <p:spPr>
          <a:xfrm>
            <a:off x="8945880" y="18073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090E4"/>
                </a:solidFill>
              </a:rPr>
              <a:t>Antigravity</a:t>
            </a:r>
            <a:endParaRPr lang="en-US" sz="2000" dirty="0">
              <a:solidFill>
                <a:srgbClr val="3090E4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43900" y="2458867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/>
              <a:t>Agent-first coding surface, terminal, browser</a:t>
            </a:r>
          </a:p>
        </p:txBody>
      </p:sp>
      <p:sp>
        <p:nvSpPr>
          <p:cNvPr id="20" name="Text 18"/>
          <p:cNvSpPr/>
          <p:nvPr/>
        </p:nvSpPr>
        <p:spPr>
          <a:xfrm>
            <a:off x="1533815" y="3411551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D1FF17"/>
                </a:solidFill>
              </a:rPr>
              <a:t>Higgsfield</a:t>
            </a:r>
            <a:endParaRPr lang="en-US" sz="2000" dirty="0">
              <a:solidFill>
                <a:srgbClr val="D1FF17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937260" y="4055495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/>
              <a:t>Image, video, brandkit, visual skills</a:t>
            </a:r>
          </a:p>
        </p:txBody>
      </p:sp>
      <p:sp>
        <p:nvSpPr>
          <p:cNvPr id="22" name="Shape 20"/>
          <p:cNvSpPr/>
          <p:nvPr/>
        </p:nvSpPr>
        <p:spPr>
          <a:xfrm>
            <a:off x="4480560" y="3108960"/>
            <a:ext cx="3200400" cy="1458468"/>
          </a:xfrm>
          <a:prstGeom prst="roundRect">
            <a:avLst>
              <a:gd name="adj" fmla="val 6780"/>
            </a:avLst>
          </a:prstGeom>
          <a:solidFill>
            <a:srgbClr val="111318"/>
          </a:solidFill>
          <a:ln w="12700">
            <a:solidFill>
              <a:srgbClr val="252B3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4571219" y="3076840"/>
            <a:ext cx="698400" cy="908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31D0FF"/>
                </a:solidFill>
              </a:rPr>
              <a:t>🌐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240850" y="333009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D0FF"/>
                </a:solidFill>
              </a:rPr>
              <a:t>Browser tools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632719" y="4055495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/>
              <a:t>Rendering, screenshots, QA walkthroughs</a:t>
            </a:r>
          </a:p>
        </p:txBody>
      </p:sp>
      <p:sp>
        <p:nvSpPr>
          <p:cNvPr id="28" name="Text 26"/>
          <p:cNvSpPr/>
          <p:nvPr/>
        </p:nvSpPr>
        <p:spPr>
          <a:xfrm>
            <a:off x="8945880" y="332468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GitHub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343900" y="4049345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/>
              <a:t>Review, branches, rollback, collaboration</a:t>
            </a:r>
          </a:p>
        </p:txBody>
      </p:sp>
      <p:sp>
        <p:nvSpPr>
          <p:cNvPr id="31" name="Text 29"/>
          <p:cNvSpPr/>
          <p:nvPr/>
        </p:nvSpPr>
        <p:spPr>
          <a:xfrm>
            <a:off x="603504" y="6537960"/>
            <a:ext cx="10789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6F7378"/>
                </a:solidFill>
              </a:rPr>
              <a:t>Sources: OpenAI Codex docs; Anthropic Claude Code docs; Google Antigravity; Higgsfield Skills</a:t>
            </a:r>
            <a:endParaRPr lang="en-US" sz="52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D9C7C26-F503-9957-2001-0B73D202B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58" y="1622286"/>
            <a:ext cx="772541" cy="77254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5B5FED0-1600-81EB-8902-57F1ABC22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869" y="1659563"/>
            <a:ext cx="779580" cy="63275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3CDE9AC-C109-C7BF-EE2D-BE72D66205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564867"/>
            <a:ext cx="822150" cy="82215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BFB14FC-40F1-7AE5-215F-57A5012AEF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770" y="3234097"/>
            <a:ext cx="545515" cy="54551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A1491D8-C181-CDB4-3E96-0C4D9E1543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4672" y="3198504"/>
            <a:ext cx="447043" cy="447043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" y="3154680"/>
            <a:ext cx="32004" cy="1005840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6" name="Text 14"/>
          <p:cNvSpPr/>
          <p:nvPr/>
        </p:nvSpPr>
        <p:spPr>
          <a:xfrm>
            <a:off x="603504" y="5773321"/>
            <a:ext cx="10789920" cy="892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0000"/>
                </a:solidFill>
              </a:rPr>
              <a:t>A reported Antigravity incident involved deleting an entire drive while clearing cache. Source: TechRadar, Incident Database, Google Antigravity docs.</a:t>
            </a:r>
          </a:p>
        </p:txBody>
      </p:sp>
      <p:pic>
        <p:nvPicPr>
          <p:cNvPr id="17" name="Picture 16" descr="Google's Antigravity in 3 minutes! - YouTube">
            <a:extLst>
              <a:ext uri="{FF2B5EF4-FFF2-40B4-BE49-F238E27FC236}">
                <a16:creationId xmlns:a16="http://schemas.microsoft.com/office/drawing/2014/main" id="{7DD750CC-00C9-65EC-4B42-3A7088CBB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131" y="1084679"/>
            <a:ext cx="8332665" cy="4688642"/>
          </a:xfrm>
          <a:prstGeom prst="rect">
            <a:avLst/>
          </a:prstGeom>
        </p:spPr>
      </p:pic>
      <p:sp>
        <p:nvSpPr>
          <p:cNvPr id="18" name="Text 2">
            <a:extLst>
              <a:ext uri="{FF2B5EF4-FFF2-40B4-BE49-F238E27FC236}">
                <a16:creationId xmlns:a16="http://schemas.microsoft.com/office/drawing/2014/main" id="{9449C86F-2968-EF7F-D43D-8CF9FCE32E66}"/>
              </a:ext>
            </a:extLst>
          </p:cNvPr>
          <p:cNvSpPr/>
          <p:nvPr/>
        </p:nvSpPr>
        <p:spPr>
          <a:xfrm>
            <a:off x="59436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Antigravity is the enemy!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" y="3154680"/>
            <a:ext cx="32004" cy="1005840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Before You Prompt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1078992"/>
            <a:ext cx="7680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7A7A7"/>
                </a:solidFill>
              </a:rPr>
              <a:t>Versioning is the first design tool.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68680" y="1371600"/>
            <a:ext cx="4983480" cy="3337560"/>
          </a:xfrm>
          <a:prstGeom prst="roundRect">
            <a:avLst>
              <a:gd name="adj" fmla="val 2192"/>
            </a:avLst>
          </a:prstGeom>
          <a:solidFill>
            <a:srgbClr val="0B0E13"/>
          </a:solidFill>
          <a:ln w="12700">
            <a:solidFill>
              <a:srgbClr val="30343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1033272" y="1517904"/>
            <a:ext cx="465429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"chore: baseline before agent"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main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&lt;repo-url&gt;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46520" y="1627632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•   Git does not stop deletion. It lets you recover committed work.
•   Uncommitted files can still disappear.
•   Ignored uploads, local databases, and secrets need backups.
•   Use branches before large agent changes.
•   Review the diff before you accept the work.
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530352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DB515"/>
                </a:solidFill>
              </a:rPr>
              <a:t>Git is the save system for agentic work.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" y="3154680"/>
            <a:ext cx="32004" cy="1005840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Backstory of the Brand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1078992"/>
            <a:ext cx="7680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7A7A7"/>
                </a:solidFill>
              </a:rPr>
              <a:t>Do not begin brand.md with colors.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•   Why does the brand exist?
•   What problem made it necessary?
•   Who should feel understood by it?
•   What emotion should it create?
•   What does it refuse to become?</a:t>
            </a:r>
          </a:p>
          <a:p>
            <a:pPr marL="0" indent="0">
              <a:buNone/>
            </a:pPr>
            <a:endParaRPr lang="en-US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”I am the brand guidelines.”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- Turki </a:t>
            </a:r>
            <a:r>
              <a:rPr lang="en-US" sz="2000" dirty="0" err="1">
                <a:solidFill>
                  <a:srgbClr val="FFFFFF"/>
                </a:solidFill>
              </a:rPr>
              <a:t>Alshauibi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0B0E13"/>
          </a:solidFill>
          <a:ln w="12700">
            <a:solidFill>
              <a:srgbClr val="30343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6336792" y="1563624"/>
            <a:ext cx="456285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Brand Story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 because technical work often feels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generic, loud, and forgettable.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brand should feel precise, calm,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credible, and human.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must not resemble a generic AI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startup, crypto product, or neon demo.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1097280" y="516636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651"/>
                </a:solidFill>
              </a:rPr>
              <a:t>The story gives the agent reasons, not just preferences.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" y="3154680"/>
            <a:ext cx="32004" cy="1005840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brand.md as a Creative Constitution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1078992"/>
            <a:ext cx="7680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7A7A7"/>
                </a:solidFill>
              </a:rPr>
              <a:t>Reusable context beats repeated prompting.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68680" y="1325880"/>
            <a:ext cx="3749040" cy="4251960"/>
          </a:xfrm>
          <a:prstGeom prst="roundRect">
            <a:avLst>
              <a:gd name="adj" fmla="val 1951"/>
            </a:avLst>
          </a:prstGeom>
          <a:solidFill>
            <a:srgbClr val="0B0E13"/>
          </a:solidFill>
          <a:ln w="12700">
            <a:solidFill>
              <a:srgbClr val="30343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1033272" y="1472184"/>
            <a:ext cx="341985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Brand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Story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Audience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Positioning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Personality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Voice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Visual principles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Typography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Color system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Logo rules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Anti-patterns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Approved references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Prohibited references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0" y="1417320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111318"/>
          </a:solidFill>
          <a:ln w="12700">
            <a:solidFill>
              <a:srgbClr val="26313C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5806440" y="17373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B515"/>
                </a:solidFill>
              </a:rPr>
              <a:t>The best section: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06440" y="2148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Anti-patterns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852160" y="2834640"/>
            <a:ext cx="4251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•   Do not default to purple gradients
•   Do not invent testimonials or metrics
•   Do not center every section
•   Do not decorate without meaning
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06440" y="4892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651"/>
                </a:solidFill>
              </a:rPr>
              <a:t>Positive rules guide. Negative rules prevent fallback.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" y="3154680"/>
            <a:ext cx="32004" cy="1005840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Context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1078992"/>
            <a:ext cx="7680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7A7A7"/>
                </a:solidFill>
              </a:rPr>
              <a:t>Separate what, why, and how.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111318"/>
          </a:solidFill>
          <a:ln w="12700">
            <a:solidFill>
              <a:srgbClr val="252B3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1051560" y="19933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8BD2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01168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8BD2"/>
                </a:solidFill>
              </a:rPr>
              <a:t>product.md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8992" y="239572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/>
              <a:t>What are we building? Audience, pages, proof, user journey.</a:t>
            </a:r>
          </a:p>
        </p:txBody>
      </p:sp>
      <p:sp>
        <p:nvSpPr>
          <p:cNvPr id="10" name="Shape 8"/>
          <p:cNvSpPr/>
          <p:nvPr/>
        </p:nvSpPr>
        <p:spPr>
          <a:xfrm>
            <a:off x="3703320" y="182880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111318"/>
          </a:solidFill>
          <a:ln w="12700">
            <a:solidFill>
              <a:srgbClr val="252B3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3840480" y="19933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DB515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201168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DB515"/>
                </a:solidFill>
              </a:rPr>
              <a:t>brand.md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67912" y="239572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/>
              <a:t>What should it feel like? Story, tone, visuals, anti-patterns.</a:t>
            </a:r>
          </a:p>
        </p:txBody>
      </p:sp>
      <p:sp>
        <p:nvSpPr>
          <p:cNvPr id="14" name="Shape 12"/>
          <p:cNvSpPr/>
          <p:nvPr/>
        </p:nvSpPr>
        <p:spPr>
          <a:xfrm>
            <a:off x="6492240" y="182880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111318"/>
          </a:solidFill>
          <a:ln w="12700">
            <a:solidFill>
              <a:srgbClr val="252B3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6629400" y="19933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A65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86600" y="201168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A651"/>
                </a:solidFill>
              </a:rPr>
              <a:t>AGENTS.md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56832" y="239572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/>
              <a:t>How should the agent work? Commands, tests, limits, definition of done.</a:t>
            </a:r>
          </a:p>
        </p:txBody>
      </p:sp>
      <p:sp>
        <p:nvSpPr>
          <p:cNvPr id="18" name="Shape 16"/>
          <p:cNvSpPr/>
          <p:nvPr/>
        </p:nvSpPr>
        <p:spPr>
          <a:xfrm>
            <a:off x="9281160" y="182880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111318"/>
          </a:solidFill>
          <a:ln w="12700">
            <a:solidFill>
              <a:srgbClr val="252B3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9418320" y="19933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C3AED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875520" y="201168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</a:rPr>
              <a:t>CLAUDE.md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445752" y="239572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/>
              <a:t>Project memory and conventions for Claude Code sessions.</a:t>
            </a:r>
          </a:p>
        </p:txBody>
      </p:sp>
      <p:sp>
        <p:nvSpPr>
          <p:cNvPr id="22" name="Shape 20"/>
          <p:cNvSpPr/>
          <p:nvPr/>
        </p:nvSpPr>
        <p:spPr>
          <a:xfrm>
            <a:off x="2011680" y="4297680"/>
            <a:ext cx="3749040" cy="0"/>
          </a:xfrm>
          <a:prstGeom prst="line">
            <a:avLst/>
          </a:prstGeom>
          <a:noFill/>
          <a:ln w="19050">
            <a:solidFill>
              <a:srgbClr val="6F737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SA"/>
          </a:p>
        </p:txBody>
      </p:sp>
      <p:sp>
        <p:nvSpPr>
          <p:cNvPr id="23" name="Shape 21"/>
          <p:cNvSpPr/>
          <p:nvPr/>
        </p:nvSpPr>
        <p:spPr>
          <a:xfrm>
            <a:off x="6355080" y="4297680"/>
            <a:ext cx="3703320" cy="0"/>
          </a:xfrm>
          <a:prstGeom prst="line">
            <a:avLst/>
          </a:prstGeom>
          <a:noFill/>
          <a:ln w="19050">
            <a:solidFill>
              <a:srgbClr val="6F737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SA"/>
          </a:p>
        </p:txBody>
      </p:sp>
      <p:sp>
        <p:nvSpPr>
          <p:cNvPr id="24" name="Text 22"/>
          <p:cNvSpPr/>
          <p:nvPr/>
        </p:nvSpPr>
        <p:spPr>
          <a:xfrm>
            <a:off x="1097280" y="5212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DB515"/>
                </a:solidFill>
              </a:rPr>
              <a:t>Files make taste portable across sessions and tools.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03504" y="6537960"/>
            <a:ext cx="10789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6F7378"/>
                </a:solidFill>
              </a:rPr>
              <a:t>Sources: AGENTS.md specification; Anthropic Claude Code memory guidance.</a:t>
            </a:r>
            <a:endParaRPr lang="en-US" sz="5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" y="3154680"/>
            <a:ext cx="32004" cy="1005840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Brand Into Tokens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1078992"/>
            <a:ext cx="7680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7A7A7"/>
                </a:solidFill>
              </a:rPr>
              <a:t>Do not ask the agent to remember consistency. Encode it.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68680" y="13258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0B0E13"/>
          </a:solidFill>
          <a:ln w="12700">
            <a:solidFill>
              <a:srgbClr val="30343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1033272" y="1472184"/>
            <a:ext cx="506577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--color-background: #000000;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--color-surface: #111318;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--color-text-primary: #ffffff;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--color-text-secondary: #a7a7a7;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--color-accent: #008bd2;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--color-warning: #fdb515;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--radius-sm: 0.375rem;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--radius-md: 0.75rem;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--space-4: 1rem;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--space-8: 2rem;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95160" y="160020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000000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7799832" y="18013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background</a:t>
            </a:r>
            <a:endParaRPr lang="en-US" sz="1200" b="1" dirty="0"/>
          </a:p>
        </p:txBody>
      </p:sp>
      <p:sp>
        <p:nvSpPr>
          <p:cNvPr id="10" name="Shape 8"/>
          <p:cNvSpPr/>
          <p:nvPr/>
        </p:nvSpPr>
        <p:spPr>
          <a:xfrm>
            <a:off x="9052560" y="160020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111318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9857232" y="18013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surface</a:t>
            </a:r>
            <a:endParaRPr lang="en-US" sz="1200" b="1" dirty="0"/>
          </a:p>
        </p:txBody>
      </p:sp>
      <p:sp>
        <p:nvSpPr>
          <p:cNvPr id="12" name="Shape 10"/>
          <p:cNvSpPr/>
          <p:nvPr/>
        </p:nvSpPr>
        <p:spPr>
          <a:xfrm>
            <a:off x="6995160" y="274320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7799832" y="29443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text</a:t>
            </a:r>
            <a:endParaRPr lang="en-US" sz="1200" b="1" dirty="0"/>
          </a:p>
        </p:txBody>
      </p:sp>
      <p:sp>
        <p:nvSpPr>
          <p:cNvPr id="14" name="Shape 12"/>
          <p:cNvSpPr/>
          <p:nvPr/>
        </p:nvSpPr>
        <p:spPr>
          <a:xfrm>
            <a:off x="9052560" y="274320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008BD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9857232" y="29443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accent</a:t>
            </a:r>
            <a:endParaRPr lang="en-US" sz="1200" b="1" dirty="0"/>
          </a:p>
        </p:txBody>
      </p:sp>
      <p:sp>
        <p:nvSpPr>
          <p:cNvPr id="16" name="Shape 14"/>
          <p:cNvSpPr/>
          <p:nvPr/>
        </p:nvSpPr>
        <p:spPr>
          <a:xfrm>
            <a:off x="6995160" y="388620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FDB515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7" name="Text 15"/>
          <p:cNvSpPr/>
          <p:nvPr/>
        </p:nvSpPr>
        <p:spPr>
          <a:xfrm>
            <a:off x="7799832" y="40873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warning</a:t>
            </a:r>
            <a:endParaRPr lang="en-US" sz="1200" b="1" dirty="0"/>
          </a:p>
        </p:txBody>
      </p:sp>
      <p:sp>
        <p:nvSpPr>
          <p:cNvPr id="18" name="Shape 16"/>
          <p:cNvSpPr/>
          <p:nvPr/>
        </p:nvSpPr>
        <p:spPr>
          <a:xfrm>
            <a:off x="9052560" y="388620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00A651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9857232" y="40873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success</a:t>
            </a:r>
            <a:endParaRPr lang="en-US" sz="1200" b="1" dirty="0"/>
          </a:p>
        </p:txBody>
      </p:sp>
      <p:sp>
        <p:nvSpPr>
          <p:cNvPr id="20" name="Text 18"/>
          <p:cNvSpPr/>
          <p:nvPr/>
        </p:nvSpPr>
        <p:spPr>
          <a:xfrm>
            <a:off x="6812280" y="5166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DB515"/>
                </a:solidFill>
              </a:rPr>
              <a:t>Tokens make the brand executable.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" y="3154680"/>
            <a:ext cx="32004" cy="1005840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and MCPs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1078992"/>
            <a:ext cx="7680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7A7A7"/>
                </a:solidFill>
              </a:rPr>
              <a:t>Move from web page generation to full creative production.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3200400" cy="1078992"/>
          </a:xfrm>
          <a:prstGeom prst="roundRect">
            <a:avLst>
              <a:gd name="adj" fmla="val 6780"/>
            </a:avLst>
          </a:prstGeom>
          <a:solidFill>
            <a:srgbClr val="111318"/>
          </a:solidFill>
          <a:ln w="12700">
            <a:solidFill>
              <a:srgbClr val="252B3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914400" y="15819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C3AED"/>
                </a:solidFill>
              </a:rPr>
              <a:t>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1684" y="16002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Generate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1832" y="1984248"/>
            <a:ext cx="1188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 err="1"/>
              <a:t>Higgsfield</a:t>
            </a:r>
            <a:r>
              <a:rPr lang="en-US" sz="1000" dirty="0"/>
              <a:t> MCP: Images, videos, 3D, audio, and branded ad modes.</a:t>
            </a:r>
          </a:p>
        </p:txBody>
      </p:sp>
      <p:sp>
        <p:nvSpPr>
          <p:cNvPr id="10" name="Shape 8"/>
          <p:cNvSpPr/>
          <p:nvPr/>
        </p:nvSpPr>
        <p:spPr>
          <a:xfrm>
            <a:off x="4480560" y="1417320"/>
            <a:ext cx="3200400" cy="1078992"/>
          </a:xfrm>
          <a:prstGeom prst="roundRect">
            <a:avLst>
              <a:gd name="adj" fmla="val 6780"/>
            </a:avLst>
          </a:prstGeom>
          <a:solidFill>
            <a:srgbClr val="111318"/>
          </a:solidFill>
          <a:ln w="12700">
            <a:solidFill>
              <a:srgbClr val="252B3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3" name="Text 11"/>
          <p:cNvSpPr/>
          <p:nvPr/>
        </p:nvSpPr>
        <p:spPr>
          <a:xfrm>
            <a:off x="4645152" y="1984248"/>
            <a:ext cx="13400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SA" sz="1000" dirty="0"/>
              <a:t>Open-source AI toolkit for professional, accessible UI/UX design.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83880" y="1417320"/>
            <a:ext cx="3200400" cy="1078992"/>
          </a:xfrm>
          <a:prstGeom prst="roundRect">
            <a:avLst>
              <a:gd name="adj" fmla="val 6780"/>
            </a:avLst>
          </a:prstGeom>
          <a:solidFill>
            <a:srgbClr val="111318"/>
          </a:solidFill>
          <a:ln w="12700">
            <a:solidFill>
              <a:srgbClr val="252B36"/>
            </a:solidFill>
            <a:prstDash val="solid"/>
          </a:ln>
        </p:spPr>
        <p:txBody>
          <a:bodyPr/>
          <a:lstStyle/>
          <a:p>
            <a:endParaRPr lang="en-SA" dirty="0">
              <a:solidFill>
                <a:schemeClr val="bg2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48472" y="1984248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r>
              <a:rPr lang="en-SA" dirty="0"/>
              <a:t>critique, polish, typography, color, motion, responsive behavior, accessibility, and removing common AI design 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777240" y="2990088"/>
            <a:ext cx="3200400" cy="1078992"/>
          </a:xfrm>
          <a:prstGeom prst="roundRect">
            <a:avLst>
              <a:gd name="adj" fmla="val 6780"/>
            </a:avLst>
          </a:prstGeom>
          <a:solidFill>
            <a:srgbClr val="111318"/>
          </a:solidFill>
          <a:ln w="12700">
            <a:solidFill>
              <a:srgbClr val="252B3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9" name="Text 17"/>
          <p:cNvSpPr/>
          <p:nvPr/>
        </p:nvSpPr>
        <p:spPr>
          <a:xfrm>
            <a:off x="914400" y="3154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8BD2"/>
                </a:solidFill>
              </a:rPr>
              <a:t>🎨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31729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b="1" dirty="0">
                <a:solidFill>
                  <a:srgbClr val="008BD2"/>
                </a:solidFill>
              </a:rPr>
              <a:t>Ponytail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41832" y="3557016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/>
              <a:t>Lazy dev in room</a:t>
            </a:r>
          </a:p>
        </p:txBody>
      </p:sp>
      <p:sp>
        <p:nvSpPr>
          <p:cNvPr id="22" name="Shape 20"/>
          <p:cNvSpPr/>
          <p:nvPr/>
        </p:nvSpPr>
        <p:spPr>
          <a:xfrm>
            <a:off x="4480560" y="2990088"/>
            <a:ext cx="3200400" cy="1078992"/>
          </a:xfrm>
          <a:prstGeom prst="roundRect">
            <a:avLst>
              <a:gd name="adj" fmla="val 6780"/>
            </a:avLst>
          </a:prstGeom>
          <a:solidFill>
            <a:srgbClr val="111318"/>
          </a:solidFill>
          <a:ln w="12700">
            <a:solidFill>
              <a:srgbClr val="252B3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3" name="Text 21"/>
          <p:cNvSpPr/>
          <p:nvPr/>
        </p:nvSpPr>
        <p:spPr>
          <a:xfrm>
            <a:off x="4617720" y="3154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D0FF"/>
                </a:solidFill>
              </a:rPr>
              <a:t>🌐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74920" y="31729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31D0FF"/>
                </a:solidFill>
              </a:rPr>
              <a:t>Call the council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58284" y="3565870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/>
              <a:t>Summons a council to replicate LLM council</a:t>
            </a:r>
          </a:p>
        </p:txBody>
      </p:sp>
      <p:sp>
        <p:nvSpPr>
          <p:cNvPr id="26" name="Shape 24"/>
          <p:cNvSpPr/>
          <p:nvPr/>
        </p:nvSpPr>
        <p:spPr>
          <a:xfrm>
            <a:off x="8183880" y="2990088"/>
            <a:ext cx="3200400" cy="1078992"/>
          </a:xfrm>
          <a:prstGeom prst="roundRect">
            <a:avLst>
              <a:gd name="adj" fmla="val 6780"/>
            </a:avLst>
          </a:prstGeom>
          <a:solidFill>
            <a:srgbClr val="111318"/>
          </a:solidFill>
          <a:ln w="12700">
            <a:solidFill>
              <a:srgbClr val="252B3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7" name="Text 25"/>
          <p:cNvSpPr/>
          <p:nvPr/>
        </p:nvSpPr>
        <p:spPr>
          <a:xfrm>
            <a:off x="8321040" y="3154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🎙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778240" y="31729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r>
              <a:rPr lang="en-SA" dirty="0">
                <a:solidFill>
                  <a:schemeClr val="accent2"/>
                </a:solidFill>
              </a:rPr>
              <a:t>Grill Me</a:t>
            </a:r>
            <a:endParaRPr lang="en-US" sz="1050" dirty="0">
              <a:solidFill>
                <a:schemeClr val="accent2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8348472" y="3557016"/>
            <a:ext cx="2880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/>
              <a:t>Grills, make sure idea are good</a:t>
            </a:r>
          </a:p>
        </p:txBody>
      </p:sp>
      <p:sp>
        <p:nvSpPr>
          <p:cNvPr id="30" name="Text 28"/>
          <p:cNvSpPr/>
          <p:nvPr/>
        </p:nvSpPr>
        <p:spPr>
          <a:xfrm>
            <a:off x="914400" y="50749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SA" b="1" dirty="0"/>
              <a:t>“A person’s mind can sometimes create a more real world than reality itself.”</a:t>
            </a:r>
            <a:endParaRPr lang="en-SA" sz="2000" dirty="0"/>
          </a:p>
        </p:txBody>
      </p:sp>
      <p:sp>
        <p:nvSpPr>
          <p:cNvPr id="31" name="Text 29"/>
          <p:cNvSpPr/>
          <p:nvPr/>
        </p:nvSpPr>
        <p:spPr>
          <a:xfrm>
            <a:off x="603504" y="6537960"/>
            <a:ext cx="10789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6F7378"/>
                </a:solidFill>
              </a:rPr>
              <a:t>Sources: Higgsfield Skills page and higgsfield-ai/skills GitHub README.</a:t>
            </a:r>
            <a:endParaRPr lang="en-US" sz="520" dirty="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D4FBCC0B-B49B-58D5-1AC0-F6092E262F7A}"/>
              </a:ext>
            </a:extLst>
          </p:cNvPr>
          <p:cNvSpPr/>
          <p:nvPr/>
        </p:nvSpPr>
        <p:spPr>
          <a:xfrm>
            <a:off x="9002486" y="5394960"/>
            <a:ext cx="12692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SA" sz="1100" b="1" dirty="0">
                <a:solidFill>
                  <a:srgbClr val="FFC000"/>
                </a:solidFill>
              </a:rPr>
              <a:t>- </a:t>
            </a:r>
            <a:r>
              <a:rPr lang="en-SA" sz="1200" b="1" dirty="0">
                <a:solidFill>
                  <a:srgbClr val="FFC000"/>
                </a:solidFill>
              </a:rPr>
              <a:t>CG Chapter 5</a:t>
            </a:r>
            <a:endParaRPr lang="en-SA" sz="1400" dirty="0">
              <a:solidFill>
                <a:srgbClr val="FFC000"/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C4AE6C9-0214-D39D-FA2D-A86AC0CE8C8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/>
        </p:blipFill>
        <p:spPr>
          <a:xfrm>
            <a:off x="3005074" y="3154680"/>
            <a:ext cx="858265" cy="77701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F48DF1F-7934-0A18-3E82-4E769F748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7194" y="3064864"/>
            <a:ext cx="1126606" cy="5492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17C644A-9EE7-7BAE-8129-2DEBB96F46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4868" y="1512511"/>
            <a:ext cx="1514729" cy="8520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B10F49D-17A5-1F27-36A8-BE72E43108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617721" y="1492621"/>
            <a:ext cx="1977134" cy="44590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8A05F08-C309-1D87-6626-BE43E15BEA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2680" y="3143135"/>
            <a:ext cx="1067749" cy="8001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5B7B200-DCBE-948E-DE3B-BF8D6122CB0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12634" b="17051"/>
          <a:stretch>
            <a:fillRect/>
          </a:stretch>
        </p:blipFill>
        <p:spPr>
          <a:xfrm>
            <a:off x="8348472" y="1465534"/>
            <a:ext cx="1200774" cy="4101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" y="3154680"/>
            <a:ext cx="32004" cy="1005840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Logos Are Systems, Not PNGs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1078992"/>
            <a:ext cx="7680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7A7A7"/>
                </a:solidFill>
              </a:rPr>
              <a:t>Use SVG so brand assets stay editable and color-aware.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  Resolution independent
•   Small for simple marks
•   Editable paths
•   CSS-controlled colors
•   Light and dark variants
•   Reusable in favicon, nav, deck, and social assets
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0B0E13"/>
          </a:solidFill>
          <a:ln w="12700">
            <a:solidFill>
              <a:srgbClr val="30343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6108192" y="1517904"/>
            <a:ext cx="492861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&lt;svg viewBox="0 0 64 64"&gt;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&lt;path d="..." fill="currentColor" 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&lt;/svg&gt;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.logo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var(--color-text-primary);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.logo-on-dark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white;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5550069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7A7A7"/>
                </a:solidFill>
              </a:rPr>
              <a:t>Inline SVG can inherit currentColor. An SVG loaded with img usually cannot.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" y="3154680"/>
            <a:ext cx="32004" cy="1005840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Favicon and Logo Details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1078992"/>
            <a:ext cx="7680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7A7A7"/>
                </a:solidFill>
              </a:rPr>
              <a:t>Small identity needs separate design judgment.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090B10"/>
          </a:solidFill>
          <a:ln w="12700">
            <a:solidFill>
              <a:srgbClr val="30364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Shape 5"/>
          <p:cNvSpPr/>
          <p:nvPr/>
        </p:nvSpPr>
        <p:spPr>
          <a:xfrm>
            <a:off x="2084832" y="2103120"/>
            <a:ext cx="105156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Text 6"/>
          <p:cNvSpPr/>
          <p:nvPr/>
        </p:nvSpPr>
        <p:spPr>
          <a:xfrm>
            <a:off x="2322576" y="2313432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</a:rPr>
              <a:t>H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892808" y="37490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A7A7"/>
                </a:solidFill>
              </a:rPr>
              <a:t>16×16 test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3480" y="1508760"/>
            <a:ext cx="5852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•   Remove fine details
•   Increase negative space
•   Test dark and light browser chrome
•   Create apple-touch-icon separately
•   Use social preview image, not favicon, for sharing
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0120" y="5212080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0B0E13"/>
          </a:solidFill>
          <a:ln w="12700">
            <a:solidFill>
              <a:srgbClr val="30343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1124712" y="5358384"/>
            <a:ext cx="9637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rel="icon" href="/favicon.svg" type="image/svg+xml"&gt;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rel="icon" href="/favicon.ico" sizes="any"&gt;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rel="apple-touch-icon" href="/apple-touch-icon.png"&gt;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rel="manifest" href="/site.webmanifest"&gt;</a:t>
            </a:r>
            <a:endParaRPr lang="en-US" sz="78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097907B-F865-9FCE-21EF-E31B45E74A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948" t="7745" r="21069" b="18269"/>
          <a:stretch>
            <a:fillRect/>
          </a:stretch>
        </p:blipFill>
        <p:spPr>
          <a:xfrm>
            <a:off x="2027903" y="2050026"/>
            <a:ext cx="1165123" cy="1165121"/>
          </a:xfrm>
          <a:prstGeom prst="rect">
            <a:avLst/>
          </a:prstGeom>
          <a:effectLst>
            <a:softEdge rad="50800"/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" y="3154680"/>
            <a:ext cx="32004" cy="1005840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SEO, AEO, and Metadata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1078992"/>
            <a:ext cx="7680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7A7A7"/>
                </a:solidFill>
              </a:rPr>
              <a:t>AEO is not magic metadata.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FFFFFF"/>
                </a:solidFill>
              </a:rPr>
              <a:t>•   Unique titles and descriptions
•   Semantic headings
•   Descriptive URLs
•   Canonical URLs
•   Structured data that matches visible content
•   Sitemap and robots directives
•   Clear answers to real questions
•   Original proof and expertise
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6492240" y="1325880"/>
            <a:ext cx="43434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8" name="Shape 6"/>
          <p:cNvSpPr/>
          <p:nvPr/>
        </p:nvSpPr>
        <p:spPr>
          <a:xfrm>
            <a:off x="6492240" y="1325880"/>
            <a:ext cx="4343400" cy="123444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9" name="Text 7"/>
          <p:cNvSpPr/>
          <p:nvPr/>
        </p:nvSpPr>
        <p:spPr>
          <a:xfrm>
            <a:off x="6720840" y="276148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Agentic Design: From Brand to Production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720840" y="30540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How to direct AI agents to build branded, production-ready digital experiences.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720840" y="3502152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66666"/>
                </a:solidFill>
              </a:rPr>
              <a:t>turkialshuaibi.com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672084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Social card preview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492240" y="4389120"/>
            <a:ext cx="4343400" cy="868680"/>
          </a:xfrm>
          <a:prstGeom prst="roundRect">
            <a:avLst>
              <a:gd name="adj" fmla="val 8421"/>
            </a:avLst>
          </a:prstGeom>
          <a:solidFill>
            <a:srgbClr val="0B0E13"/>
          </a:solidFill>
          <a:ln w="12700">
            <a:solidFill>
              <a:srgbClr val="30343A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4" name="Text 12"/>
          <p:cNvSpPr/>
          <p:nvPr/>
        </p:nvSpPr>
        <p:spPr>
          <a:xfrm>
            <a:off x="6656832" y="4535424"/>
            <a:ext cx="4014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property="og:title" content="..."&gt;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property="og:image" content="/og.png"&gt;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9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name="twitter:card" content="summary_large_image"&gt;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03504" y="6537960"/>
            <a:ext cx="10789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20" dirty="0">
                <a:solidFill>
                  <a:srgbClr val="6F7378"/>
                </a:solidFill>
              </a:rPr>
              <a:t>Sources: Google Search Central AI features guidance; Google structured data docs; web.dev metadata guidance.</a:t>
            </a:r>
            <a:endParaRPr lang="en-US" sz="5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" y="3154680"/>
            <a:ext cx="32004" cy="1005840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Not to Look Vibe Coded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1078992"/>
            <a:ext cx="7680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7A7A7"/>
                </a:solidFill>
              </a:rPr>
              <a:t>Ask the agent to defend the design choices.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111318"/>
          </a:solidFill>
          <a:ln w="12700">
            <a:solidFill>
              <a:srgbClr val="3D273B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D4F"/>
                </a:solidFill>
              </a:rPr>
              <a:t>Ban the defaults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2176272"/>
            <a:ext cx="41148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</a:rPr>
              <a:t>✕   No generic startup copy
✕   No fake metrics or clients
✕   No random decorative icons
✕   No gradient as personality
✕   No identical three-card sections
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4800600" cy="4251960"/>
          </a:xfrm>
          <a:prstGeom prst="roundRect">
            <a:avLst>
              <a:gd name="adj" fmla="val 1720"/>
            </a:avLst>
          </a:prstGeom>
          <a:solidFill>
            <a:srgbClr val="111318"/>
          </a:solidFill>
          <a:ln w="12700">
            <a:solidFill>
              <a:srgbClr val="30453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0" name="Text 8"/>
          <p:cNvSpPr/>
          <p:nvPr/>
        </p:nvSpPr>
        <p:spPr>
          <a:xfrm>
            <a:off x="6675120" y="1737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651"/>
                </a:solidFill>
              </a:rPr>
              <a:t>Demand evidence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0" y="2176272"/>
            <a:ext cx="3931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</a:rPr>
              <a:t>✅   What is unique to this brand?
✅   Which section proves trust?
✅   What changed after screenshot review?
✅   What does mobile prioritize?
✅   What should be removed?
</a:t>
            </a:r>
            <a:endParaRPr lang="en-US" sz="13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CCA75-276F-DD4A-1635-A5BD4ECDF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934E3051-A69E-C343-5CA3-7D9532F3D7AF}"/>
              </a:ext>
            </a:extLst>
          </p:cNvPr>
          <p:cNvSpPr/>
          <p:nvPr/>
        </p:nvSpPr>
        <p:spPr>
          <a:xfrm>
            <a:off x="45720" y="3154680"/>
            <a:ext cx="32004" cy="1005840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513DC38-5E9D-EA71-B956-E61AD5024EA4}"/>
              </a:ext>
            </a:extLst>
          </p:cNvPr>
          <p:cNvSpPr/>
          <p:nvPr/>
        </p:nvSpPr>
        <p:spPr>
          <a:xfrm>
            <a:off x="59436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/>
                </a:solidFill>
              </a:rPr>
              <a:t>The final flow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77508A41-0665-CCA5-75B8-3782F9EFB8EA}"/>
              </a:ext>
            </a:extLst>
          </p:cNvPr>
          <p:cNvSpPr/>
          <p:nvPr/>
        </p:nvSpPr>
        <p:spPr>
          <a:xfrm>
            <a:off x="450166" y="5929532"/>
            <a:ext cx="81909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</a:rPr>
              <a:t>(</a:t>
            </a:r>
            <a:r>
              <a:rPr lang="en-US" sz="1700" b="1" dirty="0" err="1">
                <a:solidFill>
                  <a:srgbClr val="FF0000"/>
                </a:solidFill>
              </a:rPr>
              <a:t>Github</a:t>
            </a:r>
            <a:r>
              <a:rPr lang="en-US" sz="1700" b="1" dirty="0">
                <a:solidFill>
                  <a:srgbClr val="FF0000"/>
                </a:solidFill>
              </a:rPr>
              <a:t> pages, </a:t>
            </a:r>
            <a:r>
              <a:rPr lang="en-US" sz="1700" b="1" dirty="0" err="1">
                <a:solidFill>
                  <a:srgbClr val="FF0000"/>
                </a:solidFill>
              </a:rPr>
              <a:t>Vercel</a:t>
            </a:r>
            <a:r>
              <a:rPr lang="en-US" sz="1700" b="1" dirty="0">
                <a:solidFill>
                  <a:srgbClr val="FF0000"/>
                </a:solidFill>
              </a:rPr>
              <a:t>, server…)</a:t>
            </a:r>
            <a:endParaRPr lang="en-US" sz="1700" dirty="0">
              <a:solidFill>
                <a:srgbClr val="FF0000"/>
              </a:solidFill>
            </a:endParaRPr>
          </a:p>
        </p:txBody>
      </p:sp>
      <p:pic>
        <p:nvPicPr>
          <p:cNvPr id="17" name="Picture 16" descr="Neon DevOps Workflow Pipeline">
            <a:extLst>
              <a:ext uri="{FF2B5EF4-FFF2-40B4-BE49-F238E27FC236}">
                <a16:creationId xmlns:a16="http://schemas.microsoft.com/office/drawing/2014/main" id="{FFF28D0E-5525-1D7D-541B-B0B35EBC1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6109" y="387554"/>
            <a:ext cx="10819781" cy="608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3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" y="3154680"/>
            <a:ext cx="32004" cy="1005840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Purple Demo to Real Product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1078992"/>
            <a:ext cx="7680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7A7A7"/>
                </a:solidFill>
              </a:rPr>
              <a:t>The visible transformation.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4663440" cy="3337560"/>
          </a:xfrm>
          <a:prstGeom prst="roundRect">
            <a:avLst>
              <a:gd name="adj" fmla="val 2192"/>
            </a:avLst>
          </a:prstGeom>
          <a:solidFill>
            <a:srgbClr val="0B0714"/>
          </a:solidFill>
          <a:ln w="12700">
            <a:solidFill>
              <a:srgbClr val="3A2559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Before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22402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Generic prompt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Generic visuals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Generic copy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Generic metadata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416052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A7A7"/>
                </a:solidFill>
              </a:rPr>
              <a:t>Looks like everything else.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417320"/>
            <a:ext cx="4663440" cy="3337560"/>
          </a:xfrm>
          <a:prstGeom prst="roundRect">
            <a:avLst>
              <a:gd name="adj" fmla="val 2192"/>
            </a:avLst>
          </a:prstGeom>
          <a:solidFill>
            <a:srgbClr val="08110D"/>
          </a:solidFill>
          <a:ln w="12700">
            <a:solidFill>
              <a:srgbClr val="2C4A33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11" name="Text 9"/>
          <p:cNvSpPr/>
          <p:nvPr/>
        </p:nvSpPr>
        <p:spPr>
          <a:xfrm>
            <a:off x="6675120" y="1737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651"/>
                </a:solidFill>
              </a:rPr>
              <a:t>After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22402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Brand story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Design tokens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Visual skills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SEO and QA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75120" y="4160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A7A7"/>
                </a:solidFill>
              </a:rPr>
              <a:t>Looks like it belongs to one brand.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50992" y="3108960"/>
            <a:ext cx="585216" cy="0"/>
          </a:xfrm>
          <a:prstGeom prst="line">
            <a:avLst/>
          </a:prstGeom>
          <a:noFill/>
          <a:ln w="19050">
            <a:solidFill>
              <a:srgbClr val="FDB51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SA"/>
          </a:p>
        </p:txBody>
      </p:sp>
      <p:sp>
        <p:nvSpPr>
          <p:cNvPr id="15" name="Text 13"/>
          <p:cNvSpPr/>
          <p:nvPr/>
        </p:nvSpPr>
        <p:spPr>
          <a:xfrm>
            <a:off x="1097280" y="54406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FDB515"/>
                </a:solidFill>
              </a:rPr>
              <a:t>“Steal like an Artist”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Y'ALL GOT ANY MORE - OF THEM TOKENS | Meme Creator">
            <a:extLst>
              <a:ext uri="{FF2B5EF4-FFF2-40B4-BE49-F238E27FC236}">
                <a16:creationId xmlns:a16="http://schemas.microsoft.com/office/drawing/2014/main" id="{3960D20B-6F63-E863-A9EF-82FBD6641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657" y="768531"/>
            <a:ext cx="6792686" cy="5320938"/>
          </a:xfrm>
          <a:prstGeom prst="rect">
            <a:avLst/>
          </a:prstGeom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B20C7A75-98BE-D4D4-40DE-E695E8F08A54}"/>
              </a:ext>
            </a:extLst>
          </p:cNvPr>
          <p:cNvSpPr/>
          <p:nvPr/>
        </p:nvSpPr>
        <p:spPr>
          <a:xfrm>
            <a:off x="45720" y="3154680"/>
            <a:ext cx="32004" cy="1005840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621299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" y="3154680"/>
            <a:ext cx="32004" cy="1005840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pic>
        <p:nvPicPr>
          <p:cNvPr id="4" name="Image 0" descr="/mnt/data/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41" y="228600"/>
            <a:ext cx="1473398" cy="685800"/>
          </a:xfrm>
          <a:prstGeom prst="rect">
            <a:avLst/>
          </a:prstGeom>
        </p:spPr>
      </p:pic>
      <p:pic>
        <p:nvPicPr>
          <p:cNvPr id="5" name="Image 1" descr="/mnt/data/template_extract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7543" y="192024"/>
            <a:ext cx="1339034" cy="731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27432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Thanks for Attending!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2926080" y="33375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8BD2"/>
                </a:solidFill>
              </a:rPr>
              <a:t>The agent builds. You decide.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3514613" y="5615134"/>
            <a:ext cx="51627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Prepared By: Turki Alshuaibi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4E88FE3C-9DBD-D672-6B4C-E630966ECDFB}"/>
              </a:ext>
            </a:extLst>
          </p:cNvPr>
          <p:cNvSpPr/>
          <p:nvPr/>
        </p:nvSpPr>
        <p:spPr>
          <a:xfrm>
            <a:off x="594360" y="566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Gifts 🎁</a:t>
            </a: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A8E63C-2933-970D-758A-24B8138AEBCE}"/>
              </a:ext>
            </a:extLst>
          </p:cNvPr>
          <p:cNvSpPr txBox="1"/>
          <p:nvPr/>
        </p:nvSpPr>
        <p:spPr>
          <a:xfrm>
            <a:off x="594360" y="1184255"/>
            <a:ext cx="11183112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A" sz="1400" b="1" dirty="0"/>
              <a:t>Main Gift</a:t>
            </a:r>
            <a:endParaRPr lang="en-SA" sz="1400" dirty="0">
              <a:solidFill>
                <a:srgbClr val="00B0F0"/>
              </a:solidFill>
              <a:hlinkClick r:id="rId2"/>
            </a:endParaRPr>
          </a:p>
          <a:p>
            <a:r>
              <a:rPr lang="en-SA" sz="1400" dirty="0">
                <a:solidFill>
                  <a:srgbClr val="00B0F0"/>
                </a:solidFill>
                <a:hlinkClick r:id="rId2"/>
              </a:rPr>
              <a:t>https://drive.google.com/file/d/1P-d5zBRd7P3BOjxzpGsK-rGr7UKpCeQh/view?usp=share_link</a:t>
            </a:r>
            <a:endParaRPr lang="en-US" sz="1400" dirty="0">
              <a:solidFill>
                <a:srgbClr val="00B0F0"/>
              </a:solidFill>
            </a:endParaRPr>
          </a:p>
          <a:p>
            <a:r>
              <a:rPr lang="en-SA" sz="1400" b="1" dirty="0"/>
              <a:t>Inspiration</a:t>
            </a:r>
            <a:br>
              <a:rPr lang="en-SA" sz="1400" dirty="0"/>
            </a:br>
            <a:r>
              <a:rPr lang="en-SA" sz="1400" dirty="0">
                <a:hlinkClick r:id="rId3"/>
              </a:rPr>
              <a:t>https://godly.website</a:t>
            </a:r>
            <a:br>
              <a:rPr lang="en-SA" sz="1400" dirty="0"/>
            </a:br>
            <a:r>
              <a:rPr lang="en-SA" sz="1400" dirty="0">
                <a:hlinkClick r:id="rId4"/>
              </a:rPr>
              <a:t>https://mobbin.com</a:t>
            </a:r>
            <a:br>
              <a:rPr lang="en-SA" sz="1400" dirty="0"/>
            </a:br>
            <a:r>
              <a:rPr lang="en-SA" sz="1400" dirty="0">
                <a:hlinkClick r:id="rId5"/>
              </a:rPr>
              <a:t>https://dribbble.com</a:t>
            </a:r>
            <a:br>
              <a:rPr lang="en-SA" sz="1400" dirty="0"/>
            </a:br>
            <a:r>
              <a:rPr lang="en-SA" sz="1400" dirty="0">
                <a:hlinkClick r:id="rId6"/>
              </a:rPr>
              <a:t>https://land-book.com</a:t>
            </a:r>
            <a:endParaRPr lang="en-SA" sz="1400" dirty="0"/>
          </a:p>
          <a:p>
            <a:r>
              <a:rPr lang="en-SA" sz="1400" b="1" dirty="0"/>
              <a:t>UI Components</a:t>
            </a:r>
            <a:br>
              <a:rPr lang="en-SA" sz="1400" dirty="0"/>
            </a:br>
            <a:r>
              <a:rPr lang="en-SA" sz="1400" dirty="0">
                <a:hlinkClick r:id="rId7"/>
              </a:rPr>
              <a:t>https://21st.dev</a:t>
            </a:r>
            <a:br>
              <a:rPr lang="en-SA" sz="1400" dirty="0"/>
            </a:br>
            <a:r>
              <a:rPr lang="en-SA" sz="1400" dirty="0">
                <a:hlinkClick r:id="rId8"/>
              </a:rPr>
              <a:t>https://ui.shadcn.com</a:t>
            </a:r>
            <a:br>
              <a:rPr lang="en-SA" sz="1400" dirty="0"/>
            </a:br>
            <a:r>
              <a:rPr lang="en-SA" sz="1400" dirty="0">
                <a:hlinkClick r:id="rId9"/>
              </a:rPr>
              <a:t>https://magicui.design</a:t>
            </a:r>
            <a:br>
              <a:rPr lang="en-SA" sz="1400" dirty="0"/>
            </a:br>
            <a:r>
              <a:rPr lang="en-SA" sz="1400" dirty="0">
                <a:hlinkClick r:id="rId10"/>
              </a:rPr>
              <a:t>https://ui.aceternity.com</a:t>
            </a:r>
            <a:br>
              <a:rPr lang="en-SA" sz="1400" dirty="0"/>
            </a:br>
            <a:r>
              <a:rPr lang="en-SA" sz="1400" dirty="0">
                <a:hlinkClick r:id="rId11"/>
              </a:rPr>
              <a:t>https://reactbits.dev</a:t>
            </a:r>
            <a:endParaRPr lang="en-SA" sz="1400" dirty="0"/>
          </a:p>
          <a:p>
            <a:r>
              <a:rPr lang="en-SA" sz="1400" b="1" dirty="0"/>
              <a:t>Assets</a:t>
            </a:r>
            <a:br>
              <a:rPr lang="en-SA" sz="1400" dirty="0"/>
            </a:br>
            <a:r>
              <a:rPr lang="en-SA" sz="1400" dirty="0">
                <a:hlinkClick r:id="rId12"/>
              </a:rPr>
              <a:t>https://lucide.dev</a:t>
            </a:r>
            <a:br>
              <a:rPr lang="en-SA" sz="1400" dirty="0"/>
            </a:br>
            <a:r>
              <a:rPr lang="en-SA" sz="1400" dirty="0">
                <a:hlinkClick r:id="rId13"/>
              </a:rPr>
              <a:t>https://www.fontshare.com</a:t>
            </a:r>
            <a:br>
              <a:rPr lang="en-SA" sz="1400" dirty="0"/>
            </a:br>
            <a:r>
              <a:rPr lang="en-SA" sz="1400" dirty="0">
                <a:hlinkClick r:id="rId14"/>
              </a:rPr>
              <a:t>https://lottiefiles.com</a:t>
            </a:r>
            <a:br>
              <a:rPr lang="en-SA" sz="1400" dirty="0"/>
            </a:br>
            <a:r>
              <a:rPr lang="en-SA" sz="1400" dirty="0">
                <a:hlinkClick r:id="rId15"/>
              </a:rPr>
              <a:t>https://spline.design</a:t>
            </a:r>
            <a:endParaRPr lang="en-SA" sz="1400" dirty="0"/>
          </a:p>
          <a:p>
            <a:r>
              <a:rPr lang="en-SA" sz="1400" b="1" dirty="0"/>
              <a:t>AI / Creative</a:t>
            </a:r>
            <a:br>
              <a:rPr lang="en-SA" sz="1400" dirty="0"/>
            </a:br>
            <a:r>
              <a:rPr lang="en-SA" sz="1400" dirty="0">
                <a:hlinkClick r:id="rId16"/>
              </a:rPr>
              <a:t>https://higgsfield.ai</a:t>
            </a:r>
            <a:br>
              <a:rPr lang="en-SA" sz="1400" dirty="0"/>
            </a:br>
            <a:r>
              <a:rPr lang="en-SA" sz="1400" dirty="0">
                <a:hlinkClick r:id="rId17"/>
              </a:rPr>
              <a:t>https://coolors.co</a:t>
            </a:r>
            <a:endParaRPr lang="en-SA" sz="1400" dirty="0"/>
          </a:p>
          <a:p>
            <a:r>
              <a:rPr lang="en-SA" sz="1400" b="1" dirty="0"/>
              <a:t>Agent Pack</a:t>
            </a:r>
            <a:br>
              <a:rPr lang="en-SA" sz="1400" dirty="0"/>
            </a:br>
            <a:r>
              <a:rPr lang="en-SA" sz="1400" dirty="0"/>
              <a:t>Templates • Skills • brand.md • Prompts • Starter Files</a:t>
            </a:r>
            <a:endParaRPr lang="en-US" sz="1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330747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196578f-6ae1-40cd-93dd-1a3b7a6ede66}" enabled="1" method="Standard" siteId="{2c86bbfc-8d04-41ff-a83a-942f075e0f60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224</TotalTime>
  <Words>1633</Words>
  <Application>Microsoft Macintosh PowerPoint</Application>
  <PresentationFormat>Widescreen</PresentationFormat>
  <Paragraphs>238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Courier New</vt:lpstr>
      <vt:lpstr>Neue Haas Grotesk Text Pro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KAUST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Design: From Brand to Production</dc:title>
  <dc:subject>Agentic Design</dc:subject>
  <dc:creator>Turki Alshuaibi</dc:creator>
  <cp:lastModifiedBy>تركي خالد الشعيبي</cp:lastModifiedBy>
  <cp:revision>7</cp:revision>
  <dcterms:created xsi:type="dcterms:W3CDTF">2026-08-04T22:32:40Z</dcterms:created>
  <dcterms:modified xsi:type="dcterms:W3CDTF">2026-08-10T08:10:52Z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Theme:5</vt:lpwstr>
  </property>
  <property fmtid="{D5CDD505-2E9C-101B-9397-08002B2CF9AE}" pid="3" name="ClassificationContentMarkingFooterText">
    <vt:lpwstr>Public - عام</vt:lpwstr>
  </property>
  <property fmtid="{D5CDD505-2E9C-101B-9397-08002B2CF9AE}" pid="4" name="ClassificationContentMarkingHeaderLocations">
    <vt:lpwstr>Office Theme:4</vt:lpwstr>
  </property>
  <property fmtid="{D5CDD505-2E9C-101B-9397-08002B2CF9AE}" pid="5" name="ClassificationContentMarkingHeaderText">
    <vt:lpwstr>Public - عام</vt:lpwstr>
  </property>
</Properties>
</file>